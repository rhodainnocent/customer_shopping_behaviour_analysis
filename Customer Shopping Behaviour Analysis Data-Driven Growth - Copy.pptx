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nter Semi-Bold" charset="1" panose="02000503000000020004"/>
      <p:regular r:id="rId17"/>
    </p:embeddedFont>
    <p:embeddedFont>
      <p:font typeface="Inter" charset="1" panose="02000503000000020004"/>
      <p:regular r:id="rId18"/>
    </p:embeddedFont>
    <p:embeddedFont>
      <p:font typeface="Inter Bold" charset="1" panose="02000503000000020004"/>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0">
            <a:off x="11360982" y="0"/>
            <a:ext cx="6927018" cy="1925564"/>
            <a:chOff x="0" y="0"/>
            <a:chExt cx="5473199" cy="1521434"/>
          </a:xfrm>
        </p:grpSpPr>
        <p:sp>
          <p:nvSpPr>
            <p:cNvPr name="Freeform 3" id="3"/>
            <p:cNvSpPr/>
            <p:nvPr/>
          </p:nvSpPr>
          <p:spPr>
            <a:xfrm flipH="false" flipV="false" rot="0">
              <a:off x="0" y="0"/>
              <a:ext cx="5473199" cy="1521434"/>
            </a:xfrm>
            <a:custGeom>
              <a:avLst/>
              <a:gdLst/>
              <a:ahLst/>
              <a:cxnLst/>
              <a:rect r="r" b="b" t="t" l="l"/>
              <a:pathLst>
                <a:path h="1521434" w="5473199">
                  <a:moveTo>
                    <a:pt x="0" y="0"/>
                  </a:moveTo>
                  <a:lnTo>
                    <a:pt x="5473199" y="0"/>
                  </a:lnTo>
                  <a:lnTo>
                    <a:pt x="5473199" y="1521434"/>
                  </a:lnTo>
                  <a:lnTo>
                    <a:pt x="0" y="1521434"/>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5473199" cy="155953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5400000">
            <a:off x="1821740" y="-261581"/>
            <a:ext cx="1476375" cy="3062455"/>
            <a:chOff x="0" y="0"/>
            <a:chExt cx="1166519" cy="2419718"/>
          </a:xfrm>
        </p:grpSpPr>
        <p:sp>
          <p:nvSpPr>
            <p:cNvPr name="Freeform 6" id="6"/>
            <p:cNvSpPr/>
            <p:nvPr/>
          </p:nvSpPr>
          <p:spPr>
            <a:xfrm flipH="false" flipV="false" rot="0">
              <a:off x="0" y="0"/>
              <a:ext cx="1166519" cy="2419718"/>
            </a:xfrm>
            <a:custGeom>
              <a:avLst/>
              <a:gdLst/>
              <a:ahLst/>
              <a:cxnLst/>
              <a:rect r="r" b="b" t="t" l="l"/>
              <a:pathLst>
                <a:path h="2419718" w="1166519">
                  <a:moveTo>
                    <a:pt x="0" y="0"/>
                  </a:moveTo>
                  <a:lnTo>
                    <a:pt x="1166519" y="0"/>
                  </a:lnTo>
                  <a:lnTo>
                    <a:pt x="1166519" y="2419718"/>
                  </a:lnTo>
                  <a:lnTo>
                    <a:pt x="0" y="2419718"/>
                  </a:lnTo>
                  <a:close/>
                </a:path>
              </a:pathLst>
            </a:custGeom>
            <a:gradFill rotWithShape="true">
              <a:gsLst>
                <a:gs pos="0">
                  <a:srgbClr val="FFFFFF">
                    <a:alpha val="100000"/>
                  </a:srgbClr>
                </a:gs>
                <a:gs pos="100000">
                  <a:srgbClr val="DFE5E7">
                    <a:alpha val="0"/>
                  </a:srgbClr>
                </a:gs>
              </a:gsLst>
              <a:lin ang="0"/>
            </a:gradFill>
          </p:spPr>
        </p:sp>
        <p:sp>
          <p:nvSpPr>
            <p:cNvPr name="TextBox 7" id="7"/>
            <p:cNvSpPr txBox="true"/>
            <p:nvPr/>
          </p:nvSpPr>
          <p:spPr>
            <a:xfrm>
              <a:off x="0" y="-38100"/>
              <a:ext cx="1166519" cy="245781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8" id="8"/>
          <p:cNvSpPr/>
          <p:nvPr/>
        </p:nvSpPr>
        <p:spPr>
          <a:xfrm>
            <a:off x="1028700" y="2998434"/>
            <a:ext cx="3062455" cy="0"/>
          </a:xfrm>
          <a:prstGeom prst="line">
            <a:avLst/>
          </a:prstGeom>
          <a:ln cap="flat" w="76200">
            <a:solidFill>
              <a:srgbClr val="FF4500"/>
            </a:solidFill>
            <a:prstDash val="solid"/>
            <a:headEnd type="none" len="sm" w="sm"/>
            <a:tailEnd type="none" len="sm" w="sm"/>
          </a:ln>
        </p:spPr>
      </p:sp>
      <p:sp>
        <p:nvSpPr>
          <p:cNvPr name="Freeform 9" id="9"/>
          <p:cNvSpPr/>
          <p:nvPr/>
        </p:nvSpPr>
        <p:spPr>
          <a:xfrm flipH="false" flipV="false" rot="0">
            <a:off x="12372546" y="102870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8200133"/>
            <a:ext cx="5543266" cy="1058167"/>
            <a:chOff x="0" y="0"/>
            <a:chExt cx="7391021" cy="1410889"/>
          </a:xfrm>
        </p:grpSpPr>
        <p:grpSp>
          <p:nvGrpSpPr>
            <p:cNvPr name="Group 11" id="11"/>
            <p:cNvGrpSpPr/>
            <p:nvPr/>
          </p:nvGrpSpPr>
          <p:grpSpPr>
            <a:xfrm rot="0">
              <a:off x="1410889" y="216011"/>
              <a:ext cx="5535252" cy="1194878"/>
              <a:chOff x="0" y="0"/>
              <a:chExt cx="3280149" cy="708076"/>
            </a:xfrm>
          </p:grpSpPr>
          <p:sp>
            <p:nvSpPr>
              <p:cNvPr name="Freeform 12" id="12"/>
              <p:cNvSpPr/>
              <p:nvPr/>
            </p:nvSpPr>
            <p:spPr>
              <a:xfrm flipH="false" flipV="false" rot="0">
                <a:off x="0" y="0"/>
                <a:ext cx="3280149" cy="708076"/>
              </a:xfrm>
              <a:custGeom>
                <a:avLst/>
                <a:gdLst/>
                <a:ahLst/>
                <a:cxnLst/>
                <a:rect r="r" b="b" t="t" l="l"/>
                <a:pathLst>
                  <a:path h="708076" w="3280149">
                    <a:moveTo>
                      <a:pt x="186488" y="0"/>
                    </a:moveTo>
                    <a:lnTo>
                      <a:pt x="3093661" y="0"/>
                    </a:lnTo>
                    <a:cubicBezTo>
                      <a:pt x="3143121" y="0"/>
                      <a:pt x="3190555" y="19648"/>
                      <a:pt x="3225528" y="54621"/>
                    </a:cubicBezTo>
                    <a:cubicBezTo>
                      <a:pt x="3260501" y="89594"/>
                      <a:pt x="3280149" y="137028"/>
                      <a:pt x="3280149" y="186488"/>
                    </a:cubicBezTo>
                    <a:lnTo>
                      <a:pt x="3280149" y="521588"/>
                    </a:lnTo>
                    <a:cubicBezTo>
                      <a:pt x="3280149" y="571048"/>
                      <a:pt x="3260501" y="618482"/>
                      <a:pt x="3225528" y="653455"/>
                    </a:cubicBezTo>
                    <a:cubicBezTo>
                      <a:pt x="3190555" y="688428"/>
                      <a:pt x="3143121" y="708076"/>
                      <a:pt x="3093661" y="708076"/>
                    </a:cubicBezTo>
                    <a:lnTo>
                      <a:pt x="186488" y="708076"/>
                    </a:lnTo>
                    <a:cubicBezTo>
                      <a:pt x="137028" y="708076"/>
                      <a:pt x="89594" y="688428"/>
                      <a:pt x="54621" y="653455"/>
                    </a:cubicBezTo>
                    <a:cubicBezTo>
                      <a:pt x="19648" y="618482"/>
                      <a:pt x="0" y="571048"/>
                      <a:pt x="0" y="521588"/>
                    </a:cubicBezTo>
                    <a:lnTo>
                      <a:pt x="0" y="186488"/>
                    </a:lnTo>
                    <a:cubicBezTo>
                      <a:pt x="0" y="137028"/>
                      <a:pt x="19648" y="89594"/>
                      <a:pt x="54621" y="54621"/>
                    </a:cubicBezTo>
                    <a:cubicBezTo>
                      <a:pt x="89594" y="19648"/>
                      <a:pt x="137028" y="0"/>
                      <a:pt x="186488" y="0"/>
                    </a:cubicBezTo>
                    <a:close/>
                  </a:path>
                </a:pathLst>
              </a:custGeom>
              <a:solidFill>
                <a:srgbClr val="0F1537"/>
              </a:solidFill>
              <a:ln cap="rnd">
                <a:noFill/>
                <a:prstDash val="solid"/>
                <a:round/>
              </a:ln>
            </p:spPr>
          </p:sp>
          <p:sp>
            <p:nvSpPr>
              <p:cNvPr name="TextBox 13" id="13"/>
              <p:cNvSpPr txBox="true"/>
              <p:nvPr/>
            </p:nvSpPr>
            <p:spPr>
              <a:xfrm>
                <a:off x="0" y="-38100"/>
                <a:ext cx="3280149" cy="74617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2041637" y="353075"/>
              <a:ext cx="5349384" cy="968375"/>
            </a:xfrm>
            <a:prstGeom prst="rect">
              <a:avLst/>
            </a:prstGeom>
          </p:spPr>
          <p:txBody>
            <a:bodyPr anchor="t" rtlCol="false" tIns="0" lIns="0" bIns="0" rIns="0">
              <a:spAutoFit/>
            </a:bodyPr>
            <a:lstStyle/>
            <a:p>
              <a:pPr algn="l" marL="0" indent="0" lvl="0">
                <a:lnSpc>
                  <a:spcPts val="1800"/>
                </a:lnSpc>
              </a:pPr>
              <a:r>
                <a:rPr lang="en-US" b="true" sz="2000">
                  <a:solidFill>
                    <a:srgbClr val="DFE5E7"/>
                  </a:solidFill>
                  <a:latin typeface="Inter Semi-Bold"/>
                  <a:ea typeface="Inter Semi-Bold"/>
                  <a:cs typeface="Inter Semi-Bold"/>
                  <a:sym typeface="Inter Semi-Bold"/>
                </a:rPr>
                <a:t>Rhoda Innocent, </a:t>
              </a:r>
            </a:p>
            <a:p>
              <a:pPr algn="l" marL="0" indent="0" lvl="0">
                <a:lnSpc>
                  <a:spcPts val="1800"/>
                </a:lnSpc>
              </a:pPr>
              <a:r>
                <a:rPr lang="en-US" b="true" sz="2000">
                  <a:solidFill>
                    <a:srgbClr val="DFE5E7"/>
                  </a:solidFill>
                  <a:latin typeface="Inter Semi-Bold"/>
                  <a:ea typeface="Inter Semi-Bold"/>
                  <a:cs typeface="Inter Semi-Bold"/>
                  <a:sym typeface="Inter Semi-Bold"/>
                </a:rPr>
                <a:t>Data Analyst</a:t>
              </a:r>
            </a:p>
            <a:p>
              <a:pPr algn="l" marL="0" indent="0" lvl="0">
                <a:lnSpc>
                  <a:spcPts val="1800"/>
                </a:lnSpc>
              </a:pPr>
            </a:p>
          </p:txBody>
        </p:sp>
        <p:grpSp>
          <p:nvGrpSpPr>
            <p:cNvPr name="Group 15" id="15"/>
            <p:cNvGrpSpPr/>
            <p:nvPr/>
          </p:nvGrpSpPr>
          <p:grpSpPr>
            <a:xfrm rot="0">
              <a:off x="0" y="0"/>
              <a:ext cx="1410889" cy="141088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883" t="0" r="-1883" b="0"/>
                </a:stretch>
              </a:blipFill>
            </p:spPr>
          </p:sp>
        </p:grpSp>
      </p:grpSp>
      <p:sp>
        <p:nvSpPr>
          <p:cNvPr name="TextBox 17" id="17"/>
          <p:cNvSpPr txBox="true"/>
          <p:nvPr/>
        </p:nvSpPr>
        <p:spPr>
          <a:xfrm rot="0">
            <a:off x="1028700" y="3525447"/>
            <a:ext cx="20703299" cy="3255936"/>
          </a:xfrm>
          <a:prstGeom prst="rect">
            <a:avLst/>
          </a:prstGeom>
        </p:spPr>
        <p:txBody>
          <a:bodyPr anchor="t" rtlCol="false" tIns="0" lIns="0" bIns="0" rIns="0">
            <a:spAutoFit/>
          </a:bodyPr>
          <a:lstStyle/>
          <a:p>
            <a:pPr algn="l" marL="0" indent="0" lvl="0">
              <a:lnSpc>
                <a:spcPts val="12407"/>
              </a:lnSpc>
            </a:pPr>
            <a:r>
              <a:rPr lang="en-US" sz="13786" spc="-1378">
                <a:solidFill>
                  <a:srgbClr val="0F1537"/>
                </a:solidFill>
                <a:latin typeface="Inter"/>
                <a:ea typeface="Inter"/>
                <a:cs typeface="Inter"/>
                <a:sym typeface="Inter"/>
              </a:rPr>
              <a:t>Customer Behviour </a:t>
            </a:r>
          </a:p>
          <a:p>
            <a:pPr algn="l" marL="0" indent="0" lvl="0">
              <a:lnSpc>
                <a:spcPts val="12407"/>
              </a:lnSpc>
            </a:pPr>
            <a:r>
              <a:rPr lang="en-US" sz="13786" spc="-1378">
                <a:solidFill>
                  <a:srgbClr val="0F1537"/>
                </a:solidFill>
                <a:latin typeface="Inter"/>
                <a:ea typeface="Inter"/>
                <a:cs typeface="Inter"/>
                <a:sym typeface="Inter"/>
              </a:rPr>
              <a:t>Shopping 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5400000">
            <a:off x="15430661" y="7429661"/>
            <a:ext cx="2162392" cy="3552287"/>
            <a:chOff x="0" y="0"/>
            <a:chExt cx="1708556" cy="2806745"/>
          </a:xfrm>
        </p:grpSpPr>
        <p:sp>
          <p:nvSpPr>
            <p:cNvPr name="Freeform 3" id="3"/>
            <p:cNvSpPr/>
            <p:nvPr/>
          </p:nvSpPr>
          <p:spPr>
            <a:xfrm flipH="false" flipV="false" rot="0">
              <a:off x="0" y="0"/>
              <a:ext cx="1708557" cy="2806745"/>
            </a:xfrm>
            <a:custGeom>
              <a:avLst/>
              <a:gdLst/>
              <a:ahLst/>
              <a:cxnLst/>
              <a:rect r="r" b="b" t="t" l="l"/>
              <a:pathLst>
                <a:path h="2806745" w="1708557">
                  <a:moveTo>
                    <a:pt x="0" y="0"/>
                  </a:moveTo>
                  <a:lnTo>
                    <a:pt x="1708557" y="0"/>
                  </a:lnTo>
                  <a:lnTo>
                    <a:pt x="1708557" y="2806745"/>
                  </a:lnTo>
                  <a:lnTo>
                    <a:pt x="0" y="2806745"/>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1708556" cy="284484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629816" y="975696"/>
            <a:ext cx="7967810" cy="3250824"/>
          </a:xfrm>
          <a:prstGeom prst="rect">
            <a:avLst/>
          </a:prstGeom>
        </p:spPr>
        <p:txBody>
          <a:bodyPr anchor="t" rtlCol="false" tIns="0" lIns="0" bIns="0" rIns="0">
            <a:spAutoFit/>
          </a:bodyPr>
          <a:lstStyle/>
          <a:p>
            <a:pPr algn="l" marL="0" indent="0" lvl="0">
              <a:lnSpc>
                <a:spcPts val="12392"/>
              </a:lnSpc>
            </a:pPr>
            <a:r>
              <a:rPr lang="en-US" sz="13769" spc="-1376">
                <a:solidFill>
                  <a:srgbClr val="0F1537"/>
                </a:solidFill>
                <a:latin typeface="Inter"/>
                <a:ea typeface="Inter"/>
                <a:cs typeface="Inter"/>
                <a:sym typeface="Inter"/>
              </a:rPr>
              <a:t>Table of</a:t>
            </a:r>
          </a:p>
          <a:p>
            <a:pPr algn="l" marL="0" indent="0" lvl="0">
              <a:lnSpc>
                <a:spcPts val="12392"/>
              </a:lnSpc>
            </a:pPr>
            <a:r>
              <a:rPr lang="en-US" sz="13769" spc="-1376">
                <a:solidFill>
                  <a:srgbClr val="0F1537"/>
                </a:solidFill>
                <a:latin typeface="Inter"/>
                <a:ea typeface="Inter"/>
                <a:cs typeface="Inter"/>
                <a:sym typeface="Inter"/>
              </a:rPr>
              <a:t>Contents</a:t>
            </a:r>
          </a:p>
        </p:txBody>
      </p:sp>
      <p:sp>
        <p:nvSpPr>
          <p:cNvPr name="AutoShape 6" id="6"/>
          <p:cNvSpPr/>
          <p:nvPr/>
        </p:nvSpPr>
        <p:spPr>
          <a:xfrm>
            <a:off x="1028700" y="1066800"/>
            <a:ext cx="5543550" cy="0"/>
          </a:xfrm>
          <a:prstGeom prst="line">
            <a:avLst/>
          </a:prstGeom>
          <a:ln cap="flat" w="76200">
            <a:solidFill>
              <a:srgbClr val="FF4500"/>
            </a:solidFill>
            <a:prstDash val="solid"/>
            <a:headEnd type="none" len="sm" w="sm"/>
            <a:tailEnd type="none" len="sm" w="sm"/>
          </a:ln>
        </p:spPr>
      </p:sp>
      <p:sp>
        <p:nvSpPr>
          <p:cNvPr name="AutoShape 7" id="7"/>
          <p:cNvSpPr/>
          <p:nvPr/>
        </p:nvSpPr>
        <p:spPr>
          <a:xfrm>
            <a:off x="10044351" y="9201042"/>
            <a:ext cx="2218165" cy="0"/>
          </a:xfrm>
          <a:prstGeom prst="line">
            <a:avLst/>
          </a:prstGeom>
          <a:ln cap="flat" w="9525">
            <a:solidFill>
              <a:srgbClr val="0F1537"/>
            </a:solidFill>
            <a:prstDash val="solid"/>
            <a:headEnd type="none" len="sm" w="sm"/>
            <a:tailEnd type="none" len="sm" w="sm"/>
          </a:ln>
        </p:spPr>
      </p:sp>
      <p:sp>
        <p:nvSpPr>
          <p:cNvPr name="Freeform 8" id="8"/>
          <p:cNvSpPr/>
          <p:nvPr/>
        </p:nvSpPr>
        <p:spPr>
          <a:xfrm flipH="false" flipV="false" rot="0">
            <a:off x="16655192" y="102870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38664" y="3658664"/>
            <a:ext cx="10810865" cy="5351806"/>
          </a:xfrm>
          <a:prstGeom prst="rect">
            <a:avLst/>
          </a:prstGeom>
        </p:spPr>
        <p:txBody>
          <a:bodyPr anchor="t" rtlCol="false" tIns="0" lIns="0" bIns="0" rIns="0">
            <a:spAutoFit/>
          </a:bodyPr>
          <a:lstStyle/>
          <a:p>
            <a:pPr algn="l" marL="820197" indent="-410099" lvl="1">
              <a:lnSpc>
                <a:spcPts val="5318"/>
              </a:lnSpc>
              <a:buAutoNum type="arabicPeriod" startAt="1"/>
            </a:pPr>
            <a:r>
              <a:rPr lang="en-US" sz="3798">
                <a:solidFill>
                  <a:srgbClr val="0F1537"/>
                </a:solidFill>
                <a:latin typeface="Inter"/>
                <a:ea typeface="Inter"/>
                <a:cs typeface="Inter"/>
                <a:sym typeface="Inter"/>
              </a:rPr>
              <a:t>Executive Summary</a:t>
            </a:r>
          </a:p>
          <a:p>
            <a:pPr algn="l" marL="863376" indent="-431688" lvl="1">
              <a:lnSpc>
                <a:spcPts val="5598"/>
              </a:lnSpc>
              <a:buAutoNum type="arabicPeriod" startAt="1"/>
            </a:pPr>
            <a:r>
              <a:rPr lang="en-US" sz="3998">
                <a:solidFill>
                  <a:srgbClr val="0F1537"/>
                </a:solidFill>
                <a:latin typeface="Inter"/>
                <a:ea typeface="Inter"/>
                <a:cs typeface="Inter"/>
                <a:sym typeface="Inter"/>
              </a:rPr>
              <a:t>Business Introduction</a:t>
            </a:r>
          </a:p>
          <a:p>
            <a:pPr algn="l" marL="820197" indent="-410099" lvl="1">
              <a:lnSpc>
                <a:spcPts val="5318"/>
              </a:lnSpc>
              <a:buAutoNum type="arabicPeriod" startAt="1"/>
            </a:pPr>
            <a:r>
              <a:rPr lang="en-US" sz="3798">
                <a:solidFill>
                  <a:srgbClr val="0F1537"/>
                </a:solidFill>
                <a:latin typeface="Inter"/>
                <a:ea typeface="Inter"/>
                <a:cs typeface="Inter"/>
                <a:sym typeface="Inter"/>
              </a:rPr>
              <a:t>Methodology</a:t>
            </a:r>
          </a:p>
          <a:p>
            <a:pPr algn="l" marL="820197" indent="-410099" lvl="1">
              <a:lnSpc>
                <a:spcPts val="5318"/>
              </a:lnSpc>
              <a:buAutoNum type="arabicPeriod" startAt="1"/>
            </a:pPr>
            <a:r>
              <a:rPr lang="en-US" sz="3798">
                <a:solidFill>
                  <a:srgbClr val="0F1537"/>
                </a:solidFill>
                <a:latin typeface="Inter"/>
                <a:ea typeface="Inter"/>
                <a:cs typeface="Inter"/>
                <a:sym typeface="Inter"/>
              </a:rPr>
              <a:t>Key Business Insights</a:t>
            </a:r>
          </a:p>
          <a:p>
            <a:pPr algn="l" marL="820197" indent="-410099" lvl="1">
              <a:lnSpc>
                <a:spcPts val="5318"/>
              </a:lnSpc>
              <a:buAutoNum type="arabicPeriod" startAt="1"/>
            </a:pPr>
            <a:r>
              <a:rPr lang="en-US" sz="3798">
                <a:solidFill>
                  <a:srgbClr val="0F1537"/>
                </a:solidFill>
                <a:latin typeface="Inter"/>
                <a:ea typeface="Inter"/>
                <a:cs typeface="Inter"/>
                <a:sym typeface="Inter"/>
              </a:rPr>
              <a:t>Interactive Dashboard</a:t>
            </a:r>
          </a:p>
          <a:p>
            <a:pPr algn="l" marL="820197" indent="-410099" lvl="1">
              <a:lnSpc>
                <a:spcPts val="5318"/>
              </a:lnSpc>
              <a:buAutoNum type="arabicPeriod" startAt="1"/>
            </a:pPr>
            <a:r>
              <a:rPr lang="en-US" sz="3798">
                <a:solidFill>
                  <a:srgbClr val="0F1537"/>
                </a:solidFill>
                <a:latin typeface="Inter"/>
                <a:ea typeface="Inter"/>
                <a:cs typeface="Inter"/>
                <a:sym typeface="Inter"/>
              </a:rPr>
              <a:t>Discussion</a:t>
            </a:r>
          </a:p>
          <a:p>
            <a:pPr algn="l" marL="820197" indent="-410099" lvl="1">
              <a:lnSpc>
                <a:spcPts val="5318"/>
              </a:lnSpc>
              <a:buAutoNum type="arabicPeriod" startAt="1"/>
            </a:pPr>
            <a:r>
              <a:rPr lang="en-US" sz="3798">
                <a:solidFill>
                  <a:srgbClr val="0F1537"/>
                </a:solidFill>
                <a:latin typeface="Inter"/>
                <a:ea typeface="Inter"/>
                <a:cs typeface="Inter"/>
                <a:sym typeface="Inter"/>
              </a:rPr>
              <a:t>Recommendations</a:t>
            </a:r>
          </a:p>
          <a:p>
            <a:pPr algn="l" marL="820197" indent="-410099" lvl="1">
              <a:lnSpc>
                <a:spcPts val="5318"/>
              </a:lnSpc>
              <a:buAutoNum type="arabicPeriod" startAt="1"/>
            </a:pPr>
            <a:r>
              <a:rPr lang="en-US" sz="3798">
                <a:solidFill>
                  <a:srgbClr val="0F1537"/>
                </a:solidFill>
                <a:latin typeface="Inter"/>
                <a:ea typeface="Inter"/>
                <a:cs typeface="Inter"/>
                <a:sym typeface="Inter"/>
              </a:rPr>
              <a:t>Conclusion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5400000">
            <a:off x="695929" y="-695929"/>
            <a:ext cx="2437918" cy="3829776"/>
            <a:chOff x="0" y="0"/>
            <a:chExt cx="1926256" cy="3025996"/>
          </a:xfrm>
        </p:grpSpPr>
        <p:sp>
          <p:nvSpPr>
            <p:cNvPr name="Freeform 3" id="3"/>
            <p:cNvSpPr/>
            <p:nvPr/>
          </p:nvSpPr>
          <p:spPr>
            <a:xfrm flipH="false" flipV="false" rot="0">
              <a:off x="0" y="0"/>
              <a:ext cx="1926256" cy="3025996"/>
            </a:xfrm>
            <a:custGeom>
              <a:avLst/>
              <a:gdLst/>
              <a:ahLst/>
              <a:cxnLst/>
              <a:rect r="r" b="b" t="t" l="l"/>
              <a:pathLst>
                <a:path h="3025996" w="1926256">
                  <a:moveTo>
                    <a:pt x="0" y="0"/>
                  </a:moveTo>
                  <a:lnTo>
                    <a:pt x="1926256" y="0"/>
                  </a:lnTo>
                  <a:lnTo>
                    <a:pt x="1926256" y="3025996"/>
                  </a:lnTo>
                  <a:lnTo>
                    <a:pt x="0" y="3025996"/>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1926256" cy="306409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558284" y="562562"/>
            <a:ext cx="13963711" cy="1703320"/>
          </a:xfrm>
          <a:prstGeom prst="rect">
            <a:avLst/>
          </a:prstGeom>
        </p:spPr>
        <p:txBody>
          <a:bodyPr anchor="t" rtlCol="false" tIns="0" lIns="0" bIns="0" rIns="0">
            <a:spAutoFit/>
          </a:bodyPr>
          <a:lstStyle/>
          <a:p>
            <a:pPr algn="l" marL="0" indent="0" lvl="0">
              <a:lnSpc>
                <a:spcPts val="12428"/>
              </a:lnSpc>
            </a:pPr>
            <a:r>
              <a:rPr lang="en-US" sz="13809" spc="-1380">
                <a:solidFill>
                  <a:srgbClr val="0F1537"/>
                </a:solidFill>
                <a:latin typeface="Inter"/>
                <a:ea typeface="Inter"/>
                <a:cs typeface="Inter"/>
                <a:sym typeface="Inter"/>
              </a:rPr>
              <a:t>Executive Summary</a:t>
            </a:r>
          </a:p>
        </p:txBody>
      </p:sp>
      <p:sp>
        <p:nvSpPr>
          <p:cNvPr name="TextBox 6" id="6"/>
          <p:cNvSpPr txBox="true"/>
          <p:nvPr/>
        </p:nvSpPr>
        <p:spPr>
          <a:xfrm rot="0">
            <a:off x="675044" y="2796391"/>
            <a:ext cx="16867562" cy="7414484"/>
          </a:xfrm>
          <a:prstGeom prst="rect">
            <a:avLst/>
          </a:prstGeom>
        </p:spPr>
        <p:txBody>
          <a:bodyPr anchor="t" rtlCol="false" tIns="0" lIns="0" bIns="0" rIns="0">
            <a:spAutoFit/>
          </a:bodyPr>
          <a:lstStyle/>
          <a:p>
            <a:pPr algn="l" marL="0" indent="0" lvl="0">
              <a:lnSpc>
                <a:spcPts val="4556"/>
              </a:lnSpc>
            </a:pPr>
            <a:r>
              <a:rPr lang="en-US" sz="3254">
                <a:solidFill>
                  <a:srgbClr val="0F1537"/>
                </a:solidFill>
                <a:latin typeface="Inter"/>
                <a:ea typeface="Inter"/>
                <a:cs typeface="Inter"/>
                <a:sym typeface="Inter"/>
              </a:rPr>
              <a:t>This report analyzes 3,000</a:t>
            </a:r>
            <a:r>
              <a:rPr lang="en-US" sz="3254">
                <a:solidFill>
                  <a:srgbClr val="0F1537"/>
                </a:solidFill>
                <a:latin typeface="Inter"/>
                <a:ea typeface="Inter"/>
                <a:cs typeface="Inter"/>
                <a:sym typeface="Inter"/>
              </a:rPr>
              <a:t> customer shopping transactions to identify purchasing trends and opportunities to improve customer engagement, sales, and retention. The analysis examines customer demographics, product categories, discounts, subscriptions, and shopping behavior using Python, MySQL, and Power BI.</a:t>
            </a:r>
          </a:p>
          <a:p>
            <a:pPr algn="l" marL="0" indent="0" lvl="0">
              <a:lnSpc>
                <a:spcPts val="4556"/>
              </a:lnSpc>
            </a:pPr>
          </a:p>
          <a:p>
            <a:pPr algn="l" marL="0" indent="0" lvl="0">
              <a:lnSpc>
                <a:spcPts val="4556"/>
              </a:lnSpc>
            </a:pPr>
            <a:r>
              <a:rPr lang="en-US" sz="3254">
                <a:solidFill>
                  <a:srgbClr val="0F1537"/>
                </a:solidFill>
                <a:latin typeface="Inter"/>
                <a:ea typeface="Inter"/>
                <a:cs typeface="Inter"/>
                <a:sym typeface="Inter"/>
              </a:rPr>
              <a:t>The findings show that clothing generated the highest sales, subscription customers spent more on average, and discounts significantly influenced purchasing decisions. Customer segmentation also revealed opportunities to improve retention and increase repeat purchases.</a:t>
            </a:r>
          </a:p>
          <a:p>
            <a:pPr algn="l" marL="0" indent="0" lvl="0">
              <a:lnSpc>
                <a:spcPts val="4556"/>
              </a:lnSpc>
            </a:pPr>
            <a:r>
              <a:rPr lang="en-US" sz="3254">
                <a:solidFill>
                  <a:srgbClr val="0F1537"/>
                </a:solidFill>
                <a:latin typeface="Inter"/>
                <a:ea typeface="Inter"/>
                <a:cs typeface="Inter"/>
                <a:sym typeface="Inter"/>
              </a:rPr>
              <a:t>Based on these insights, the company should strengthen loyalty programs, promote high-performing products, and implement targeted marketing strategies to drive revenue growth and enhance customer satisfaction.</a:t>
            </a:r>
          </a:p>
          <a:p>
            <a:pPr algn="l" marL="0" indent="0" lvl="0">
              <a:lnSpc>
                <a:spcPts val="4556"/>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5400000">
            <a:off x="12481440" y="-4178921"/>
            <a:ext cx="7137653" cy="4114800"/>
            <a:chOff x="0" y="0"/>
            <a:chExt cx="5639627" cy="3251200"/>
          </a:xfrm>
        </p:grpSpPr>
        <p:sp>
          <p:nvSpPr>
            <p:cNvPr name="Freeform 3" id="3"/>
            <p:cNvSpPr/>
            <p:nvPr/>
          </p:nvSpPr>
          <p:spPr>
            <a:xfrm flipH="false" flipV="false" rot="0">
              <a:off x="0" y="0"/>
              <a:ext cx="5639627" cy="3251200"/>
            </a:xfrm>
            <a:custGeom>
              <a:avLst/>
              <a:gdLst/>
              <a:ahLst/>
              <a:cxnLst/>
              <a:rect r="r" b="b" t="t" l="l"/>
              <a:pathLst>
                <a:path h="3251200" w="5639627">
                  <a:moveTo>
                    <a:pt x="0" y="0"/>
                  </a:moveTo>
                  <a:lnTo>
                    <a:pt x="5639627" y="0"/>
                  </a:lnTo>
                  <a:lnTo>
                    <a:pt x="5639627" y="3251200"/>
                  </a:lnTo>
                  <a:lnTo>
                    <a:pt x="0" y="3251200"/>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5639627" cy="32893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4667" y="102870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8014515" y="-2812730"/>
            <a:ext cx="1189438" cy="13285163"/>
            <a:chOff x="0" y="0"/>
            <a:chExt cx="939803" cy="10496919"/>
          </a:xfrm>
        </p:grpSpPr>
        <p:sp>
          <p:nvSpPr>
            <p:cNvPr name="Freeform 7" id="7"/>
            <p:cNvSpPr/>
            <p:nvPr/>
          </p:nvSpPr>
          <p:spPr>
            <a:xfrm flipH="false" flipV="false" rot="0">
              <a:off x="0" y="0"/>
              <a:ext cx="939803" cy="10496919"/>
            </a:xfrm>
            <a:custGeom>
              <a:avLst/>
              <a:gdLst/>
              <a:ahLst/>
              <a:cxnLst/>
              <a:rect r="r" b="b" t="t" l="l"/>
              <a:pathLst>
                <a:path h="10496919" w="939803">
                  <a:moveTo>
                    <a:pt x="0" y="0"/>
                  </a:moveTo>
                  <a:lnTo>
                    <a:pt x="939803" y="0"/>
                  </a:lnTo>
                  <a:lnTo>
                    <a:pt x="939803" y="10496919"/>
                  </a:lnTo>
                  <a:lnTo>
                    <a:pt x="0" y="10496919"/>
                  </a:lnTo>
                  <a:close/>
                </a:path>
              </a:pathLst>
            </a:custGeom>
            <a:gradFill rotWithShape="true">
              <a:gsLst>
                <a:gs pos="0">
                  <a:srgbClr val="FFFFFF">
                    <a:alpha val="100000"/>
                  </a:srgbClr>
                </a:gs>
                <a:gs pos="100000">
                  <a:srgbClr val="DFE5E7">
                    <a:alpha val="0"/>
                  </a:srgbClr>
                </a:gs>
              </a:gsLst>
              <a:lin ang="0"/>
            </a:gradFill>
          </p:spPr>
        </p:sp>
        <p:sp>
          <p:nvSpPr>
            <p:cNvPr name="TextBox 8" id="8"/>
            <p:cNvSpPr txBox="true"/>
            <p:nvPr/>
          </p:nvSpPr>
          <p:spPr>
            <a:xfrm>
              <a:off x="0" y="-38100"/>
              <a:ext cx="939803" cy="1053501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703985" y="4072307"/>
            <a:ext cx="14346282" cy="5185993"/>
            <a:chOff x="0" y="0"/>
            <a:chExt cx="11335334" cy="4097575"/>
          </a:xfrm>
        </p:grpSpPr>
        <p:sp>
          <p:nvSpPr>
            <p:cNvPr name="Freeform 10" id="10"/>
            <p:cNvSpPr/>
            <p:nvPr/>
          </p:nvSpPr>
          <p:spPr>
            <a:xfrm flipH="false" flipV="false" rot="0">
              <a:off x="0" y="0"/>
              <a:ext cx="11335334" cy="4097575"/>
            </a:xfrm>
            <a:custGeom>
              <a:avLst/>
              <a:gdLst/>
              <a:ahLst/>
              <a:cxnLst/>
              <a:rect r="r" b="b" t="t" l="l"/>
              <a:pathLst>
                <a:path h="4097575" w="11335334">
                  <a:moveTo>
                    <a:pt x="26443" y="0"/>
                  </a:moveTo>
                  <a:lnTo>
                    <a:pt x="11308892" y="0"/>
                  </a:lnTo>
                  <a:cubicBezTo>
                    <a:pt x="11315905" y="0"/>
                    <a:pt x="11322631" y="2786"/>
                    <a:pt x="11327590" y="7745"/>
                  </a:cubicBezTo>
                  <a:cubicBezTo>
                    <a:pt x="11332549" y="12704"/>
                    <a:pt x="11335334" y="19430"/>
                    <a:pt x="11335334" y="26443"/>
                  </a:cubicBezTo>
                  <a:lnTo>
                    <a:pt x="11335334" y="4071133"/>
                  </a:lnTo>
                  <a:cubicBezTo>
                    <a:pt x="11335334" y="4078145"/>
                    <a:pt x="11332549" y="4084871"/>
                    <a:pt x="11327590" y="4089830"/>
                  </a:cubicBezTo>
                  <a:cubicBezTo>
                    <a:pt x="11322631" y="4094789"/>
                    <a:pt x="11315905" y="4097575"/>
                    <a:pt x="11308892" y="4097575"/>
                  </a:cubicBezTo>
                  <a:lnTo>
                    <a:pt x="26443" y="4097575"/>
                  </a:lnTo>
                  <a:cubicBezTo>
                    <a:pt x="19430" y="4097575"/>
                    <a:pt x="12704" y="4094789"/>
                    <a:pt x="7745" y="4089830"/>
                  </a:cubicBezTo>
                  <a:cubicBezTo>
                    <a:pt x="2786" y="4084871"/>
                    <a:pt x="0" y="4078145"/>
                    <a:pt x="0" y="4071133"/>
                  </a:cubicBezTo>
                  <a:lnTo>
                    <a:pt x="0" y="26443"/>
                  </a:lnTo>
                  <a:cubicBezTo>
                    <a:pt x="0" y="19430"/>
                    <a:pt x="2786" y="12704"/>
                    <a:pt x="7745" y="7745"/>
                  </a:cubicBezTo>
                  <a:cubicBezTo>
                    <a:pt x="12704" y="2786"/>
                    <a:pt x="19430" y="0"/>
                    <a:pt x="26443" y="0"/>
                  </a:cubicBezTo>
                  <a:close/>
                </a:path>
              </a:pathLst>
            </a:custGeom>
            <a:solidFill>
              <a:srgbClr val="0F1537"/>
            </a:solidFill>
            <a:ln cap="rnd">
              <a:noFill/>
              <a:prstDash val="solid"/>
              <a:round/>
            </a:ln>
          </p:spPr>
        </p:sp>
        <p:sp>
          <p:nvSpPr>
            <p:cNvPr name="TextBox 11" id="11"/>
            <p:cNvSpPr txBox="true"/>
            <p:nvPr/>
          </p:nvSpPr>
          <p:spPr>
            <a:xfrm>
              <a:off x="0" y="-38100"/>
              <a:ext cx="11335334" cy="41356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966652" y="1400175"/>
            <a:ext cx="14785847" cy="1598728"/>
          </a:xfrm>
          <a:prstGeom prst="rect">
            <a:avLst/>
          </a:prstGeom>
        </p:spPr>
        <p:txBody>
          <a:bodyPr anchor="t" rtlCol="false" tIns="0" lIns="0" bIns="0" rIns="0">
            <a:spAutoFit/>
          </a:bodyPr>
          <a:lstStyle/>
          <a:p>
            <a:pPr algn="l" marL="0" indent="0" lvl="0">
              <a:lnSpc>
                <a:spcPts val="11657"/>
              </a:lnSpc>
            </a:pPr>
            <a:r>
              <a:rPr lang="en-US" sz="12953" spc="-1295">
                <a:solidFill>
                  <a:srgbClr val="0F1537"/>
                </a:solidFill>
                <a:latin typeface="Inter"/>
                <a:ea typeface="Inter"/>
                <a:cs typeface="Inter"/>
                <a:sym typeface="Inter"/>
              </a:rPr>
              <a:t>Business Introduction</a:t>
            </a:r>
          </a:p>
        </p:txBody>
      </p:sp>
      <p:sp>
        <p:nvSpPr>
          <p:cNvPr name="TextBox 13" id="13"/>
          <p:cNvSpPr txBox="true"/>
          <p:nvPr/>
        </p:nvSpPr>
        <p:spPr>
          <a:xfrm rot="0">
            <a:off x="1966652" y="4576970"/>
            <a:ext cx="13285163" cy="4706885"/>
          </a:xfrm>
          <a:prstGeom prst="rect">
            <a:avLst/>
          </a:prstGeom>
        </p:spPr>
        <p:txBody>
          <a:bodyPr anchor="t" rtlCol="false" tIns="0" lIns="0" bIns="0" rIns="0">
            <a:spAutoFit/>
          </a:bodyPr>
          <a:lstStyle/>
          <a:p>
            <a:pPr algn="l" marL="0" indent="0" lvl="0">
              <a:lnSpc>
                <a:spcPts val="5200"/>
              </a:lnSpc>
            </a:pPr>
            <a:r>
              <a:rPr lang="en-US" sz="3714">
                <a:solidFill>
                  <a:srgbClr val="FFFFFF"/>
                </a:solidFill>
                <a:latin typeface="Inter"/>
                <a:ea typeface="Inter"/>
                <a:cs typeface="Inter"/>
                <a:sym typeface="Inter"/>
              </a:rPr>
              <a:t>Customer data provides valuable insights into h</a:t>
            </a:r>
            <a:r>
              <a:rPr lang="en-US" sz="3714">
                <a:solidFill>
                  <a:srgbClr val="FFFFFF"/>
                </a:solidFill>
                <a:latin typeface="Inter"/>
                <a:ea typeface="Inter"/>
                <a:cs typeface="Inter"/>
                <a:sym typeface="Inter"/>
              </a:rPr>
              <a:t>ow people shop and what influences their buying decisions. </a:t>
            </a:r>
          </a:p>
          <a:p>
            <a:pPr algn="l" marL="0" indent="0" lvl="0">
              <a:lnSpc>
                <a:spcPts val="5200"/>
              </a:lnSpc>
            </a:pPr>
          </a:p>
          <a:p>
            <a:pPr algn="l" marL="0" indent="0" lvl="0">
              <a:lnSpc>
                <a:spcPts val="5200"/>
              </a:lnSpc>
            </a:pPr>
            <a:r>
              <a:rPr lang="en-US" sz="3714">
                <a:solidFill>
                  <a:srgbClr val="FFFFFF"/>
                </a:solidFill>
                <a:latin typeface="Inter"/>
                <a:ea typeface="Inter"/>
                <a:cs typeface="Inter"/>
                <a:sym typeface="Inter"/>
              </a:rPr>
              <a:t>This report examines these patterns to help the business improve marketing strategies, strengthen customer loyalty, and increase revenue.</a:t>
            </a:r>
          </a:p>
          <a:p>
            <a:pPr algn="l" marL="0" indent="0" lvl="0">
              <a:lnSpc>
                <a:spcPts val="618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5400000">
            <a:off x="695929" y="-695929"/>
            <a:ext cx="2437918" cy="3829776"/>
            <a:chOff x="0" y="0"/>
            <a:chExt cx="1926256" cy="3025996"/>
          </a:xfrm>
        </p:grpSpPr>
        <p:sp>
          <p:nvSpPr>
            <p:cNvPr name="Freeform 3" id="3"/>
            <p:cNvSpPr/>
            <p:nvPr/>
          </p:nvSpPr>
          <p:spPr>
            <a:xfrm flipH="false" flipV="false" rot="0">
              <a:off x="0" y="0"/>
              <a:ext cx="1926256" cy="3025996"/>
            </a:xfrm>
            <a:custGeom>
              <a:avLst/>
              <a:gdLst/>
              <a:ahLst/>
              <a:cxnLst/>
              <a:rect r="r" b="b" t="t" l="l"/>
              <a:pathLst>
                <a:path h="3025996" w="1926256">
                  <a:moveTo>
                    <a:pt x="0" y="0"/>
                  </a:moveTo>
                  <a:lnTo>
                    <a:pt x="1926256" y="0"/>
                  </a:lnTo>
                  <a:lnTo>
                    <a:pt x="1926256" y="3025996"/>
                  </a:lnTo>
                  <a:lnTo>
                    <a:pt x="0" y="3025996"/>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1926256" cy="306409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5" id="5"/>
          <p:cNvSpPr/>
          <p:nvPr/>
        </p:nvSpPr>
        <p:spPr>
          <a:xfrm flipV="true">
            <a:off x="16223670" y="4761108"/>
            <a:ext cx="0" cy="1587092"/>
          </a:xfrm>
          <a:prstGeom prst="line">
            <a:avLst/>
          </a:prstGeom>
          <a:ln cap="flat" w="9525">
            <a:solidFill>
              <a:srgbClr val="0F1537"/>
            </a:solidFill>
            <a:prstDash val="solid"/>
            <a:headEnd type="none" len="sm" w="sm"/>
            <a:tailEnd type="none" len="sm" w="sm"/>
          </a:ln>
        </p:spPr>
      </p:sp>
      <p:sp>
        <p:nvSpPr>
          <p:cNvPr name="TextBox 6" id="6"/>
          <p:cNvSpPr txBox="true"/>
          <p:nvPr/>
        </p:nvSpPr>
        <p:spPr>
          <a:xfrm rot="0">
            <a:off x="4636134" y="995281"/>
            <a:ext cx="8115300" cy="1559534"/>
          </a:xfrm>
          <a:prstGeom prst="rect">
            <a:avLst/>
          </a:prstGeom>
        </p:spPr>
        <p:txBody>
          <a:bodyPr anchor="t" rtlCol="false" tIns="0" lIns="0" bIns="0" rIns="0">
            <a:spAutoFit/>
          </a:bodyPr>
          <a:lstStyle/>
          <a:p>
            <a:pPr algn="l" marL="0" indent="0" lvl="0">
              <a:lnSpc>
                <a:spcPts val="11386"/>
              </a:lnSpc>
            </a:pPr>
            <a:r>
              <a:rPr lang="en-US" sz="12652" spc="-1265">
                <a:solidFill>
                  <a:srgbClr val="0F1537"/>
                </a:solidFill>
                <a:latin typeface="Inter"/>
                <a:ea typeface="Inter"/>
                <a:cs typeface="Inter"/>
                <a:sym typeface="Inter"/>
              </a:rPr>
              <a:t>Methodology</a:t>
            </a:r>
          </a:p>
        </p:txBody>
      </p:sp>
      <p:sp>
        <p:nvSpPr>
          <p:cNvPr name="TextBox 7" id="7"/>
          <p:cNvSpPr txBox="true"/>
          <p:nvPr/>
        </p:nvSpPr>
        <p:spPr>
          <a:xfrm rot="0">
            <a:off x="1181720" y="2938250"/>
            <a:ext cx="5296112" cy="6810375"/>
          </a:xfrm>
          <a:prstGeom prst="rect">
            <a:avLst/>
          </a:prstGeom>
        </p:spPr>
        <p:txBody>
          <a:bodyPr anchor="t" rtlCol="false" tIns="0" lIns="0" bIns="0" rIns="0">
            <a:spAutoFit/>
          </a:bodyPr>
          <a:lstStyle/>
          <a:p>
            <a:pPr algn="l" marL="0" indent="0" lvl="0">
              <a:lnSpc>
                <a:spcPts val="3839"/>
              </a:lnSpc>
            </a:pPr>
            <a:r>
              <a:rPr lang="en-US" b="true" sz="3199">
                <a:solidFill>
                  <a:srgbClr val="0F1537"/>
                </a:solidFill>
                <a:latin typeface="Inter Bold"/>
                <a:ea typeface="Inter Bold"/>
                <a:cs typeface="Inter Bold"/>
                <a:sym typeface="Inter Bold"/>
              </a:rPr>
              <a:t>Data </a:t>
            </a:r>
            <a:r>
              <a:rPr lang="en-US" b="true" sz="3199">
                <a:solidFill>
                  <a:srgbClr val="0F1537"/>
                </a:solidFill>
                <a:latin typeface="Inter Bold"/>
                <a:ea typeface="Inter Bold"/>
                <a:cs typeface="Inter Bold"/>
                <a:sym typeface="Inter Bold"/>
              </a:rPr>
              <a:t>Source</a:t>
            </a:r>
          </a:p>
          <a:p>
            <a:pPr algn="l" marL="690869" indent="-345435" lvl="1">
              <a:lnSpc>
                <a:spcPts val="3839"/>
              </a:lnSpc>
              <a:buFont typeface="Arial"/>
              <a:buChar char="•"/>
            </a:pPr>
            <a:r>
              <a:rPr lang="en-US" sz="3199">
                <a:solidFill>
                  <a:srgbClr val="0F1537"/>
                </a:solidFill>
                <a:latin typeface="Inter"/>
                <a:ea typeface="Inter"/>
                <a:cs typeface="Inter"/>
                <a:sym typeface="Inter"/>
              </a:rPr>
              <a:t>Customer Shopping Behaviour Dataset (3,000 customer transactions)</a:t>
            </a:r>
          </a:p>
          <a:p>
            <a:pPr algn="l">
              <a:lnSpc>
                <a:spcPts val="3839"/>
              </a:lnSpc>
            </a:pPr>
          </a:p>
          <a:p>
            <a:pPr algn="l">
              <a:lnSpc>
                <a:spcPts val="3839"/>
              </a:lnSpc>
            </a:pPr>
            <a:r>
              <a:rPr lang="en-US" b="true" sz="3199">
                <a:solidFill>
                  <a:srgbClr val="0F1537"/>
                </a:solidFill>
                <a:latin typeface="Inter Bold"/>
                <a:ea typeface="Inter Bold"/>
                <a:cs typeface="Inter Bold"/>
                <a:sym typeface="Inter Bold"/>
              </a:rPr>
              <a:t>Data Collection</a:t>
            </a:r>
          </a:p>
          <a:p>
            <a:pPr algn="l" marL="690869" indent="-345435" lvl="1">
              <a:lnSpc>
                <a:spcPts val="3839"/>
              </a:lnSpc>
              <a:buFont typeface="Arial"/>
              <a:buChar char="•"/>
            </a:pPr>
            <a:r>
              <a:rPr lang="en-US" sz="3199">
                <a:solidFill>
                  <a:srgbClr val="0F1537"/>
                </a:solidFill>
                <a:latin typeface="Inter"/>
                <a:ea typeface="Inter"/>
                <a:cs typeface="Inter"/>
                <a:sym typeface="Inter"/>
              </a:rPr>
              <a:t>Data was collected from a publicly available customer shopping dataset in CSV</a:t>
            </a:r>
          </a:p>
          <a:p>
            <a:pPr algn="l">
              <a:lnSpc>
                <a:spcPts val="3839"/>
              </a:lnSpc>
            </a:pPr>
          </a:p>
          <a:p>
            <a:pPr algn="l">
              <a:lnSpc>
                <a:spcPts val="3839"/>
              </a:lnSpc>
            </a:pPr>
          </a:p>
          <a:p>
            <a:pPr algn="l" marL="0" indent="0" lvl="0">
              <a:lnSpc>
                <a:spcPts val="3839"/>
              </a:lnSpc>
            </a:pPr>
          </a:p>
        </p:txBody>
      </p:sp>
      <p:sp>
        <p:nvSpPr>
          <p:cNvPr name="TextBox 8" id="8"/>
          <p:cNvSpPr txBox="true"/>
          <p:nvPr/>
        </p:nvSpPr>
        <p:spPr>
          <a:xfrm rot="0">
            <a:off x="7925813" y="2947775"/>
            <a:ext cx="7803903" cy="6800850"/>
          </a:xfrm>
          <a:prstGeom prst="rect">
            <a:avLst/>
          </a:prstGeom>
        </p:spPr>
        <p:txBody>
          <a:bodyPr anchor="t" rtlCol="false" tIns="0" lIns="0" bIns="0" rIns="0">
            <a:spAutoFit/>
          </a:bodyPr>
          <a:lstStyle/>
          <a:p>
            <a:pPr algn="l" marL="0" indent="0" lvl="0">
              <a:lnSpc>
                <a:spcPts val="3890"/>
              </a:lnSpc>
            </a:pPr>
            <a:r>
              <a:rPr lang="en-US" b="true" sz="3242">
                <a:solidFill>
                  <a:srgbClr val="0F1537"/>
                </a:solidFill>
                <a:latin typeface="Inter Bold"/>
                <a:ea typeface="Inter Bold"/>
                <a:cs typeface="Inter Bold"/>
                <a:sym typeface="Inter Bold"/>
              </a:rPr>
              <a:t>Data P</a:t>
            </a:r>
            <a:r>
              <a:rPr lang="en-US" b="true" sz="3242">
                <a:solidFill>
                  <a:srgbClr val="0F1537"/>
                </a:solidFill>
                <a:latin typeface="Inter Bold"/>
                <a:ea typeface="Inter Bold"/>
                <a:cs typeface="Inter Bold"/>
                <a:sym typeface="Inter Bold"/>
              </a:rPr>
              <a:t>reparation:</a:t>
            </a:r>
          </a:p>
          <a:p>
            <a:pPr algn="l" marL="0" indent="0" lvl="0">
              <a:lnSpc>
                <a:spcPts val="3890"/>
              </a:lnSpc>
            </a:pPr>
          </a:p>
          <a:p>
            <a:pPr algn="l">
              <a:lnSpc>
                <a:spcPts val="3890"/>
              </a:lnSpc>
            </a:pPr>
            <a:r>
              <a:rPr lang="en-US" sz="3242">
                <a:solidFill>
                  <a:srgbClr val="0F1537"/>
                </a:solidFill>
                <a:latin typeface="Inter"/>
                <a:ea typeface="Inter"/>
                <a:cs typeface="Inter"/>
                <a:sym typeface="Inter"/>
              </a:rPr>
              <a:t>The dataset underwent several preprocessing steps:</a:t>
            </a:r>
          </a:p>
          <a:p>
            <a:pPr algn="l" marL="699984" indent="-349992" lvl="1">
              <a:lnSpc>
                <a:spcPts val="3890"/>
              </a:lnSpc>
              <a:buFont typeface="Arial"/>
              <a:buChar char="•"/>
            </a:pPr>
            <a:r>
              <a:rPr lang="en-US" sz="3242">
                <a:solidFill>
                  <a:srgbClr val="0F1537"/>
                </a:solidFill>
                <a:latin typeface="Inter"/>
                <a:ea typeface="Inter"/>
                <a:cs typeface="Inter"/>
                <a:sym typeface="Inter"/>
              </a:rPr>
              <a:t>Handling</a:t>
            </a:r>
            <a:r>
              <a:rPr lang="en-US" sz="3242">
                <a:solidFill>
                  <a:srgbClr val="0F1537"/>
                </a:solidFill>
                <a:latin typeface="Inter"/>
                <a:ea typeface="Inter"/>
                <a:cs typeface="Inter"/>
                <a:sym typeface="Inter"/>
              </a:rPr>
              <a:t> missing values</a:t>
            </a:r>
          </a:p>
          <a:p>
            <a:pPr algn="l" marL="699984" indent="-349992" lvl="1">
              <a:lnSpc>
                <a:spcPts val="3890"/>
              </a:lnSpc>
              <a:buFont typeface="Arial"/>
              <a:buChar char="•"/>
            </a:pPr>
            <a:r>
              <a:rPr lang="en-US" sz="3242">
                <a:solidFill>
                  <a:srgbClr val="0F1537"/>
                </a:solidFill>
                <a:latin typeface="Inter"/>
                <a:ea typeface="Inter"/>
                <a:cs typeface="Inter"/>
                <a:sym typeface="Inter"/>
              </a:rPr>
              <a:t>Renaming columns for consistency</a:t>
            </a:r>
          </a:p>
          <a:p>
            <a:pPr algn="l" marL="699984" indent="-349992" lvl="1">
              <a:lnSpc>
                <a:spcPts val="3890"/>
              </a:lnSpc>
              <a:buFont typeface="Arial"/>
              <a:buChar char="•"/>
            </a:pPr>
            <a:r>
              <a:rPr lang="en-US" sz="3242">
                <a:solidFill>
                  <a:srgbClr val="0F1537"/>
                </a:solidFill>
                <a:latin typeface="Inter"/>
                <a:ea typeface="Inter"/>
                <a:cs typeface="Inter"/>
                <a:sym typeface="Inter"/>
              </a:rPr>
              <a:t>Feature engineering (Age Group and Purchase Frequency)</a:t>
            </a:r>
          </a:p>
          <a:p>
            <a:pPr algn="l" marL="699984" indent="-349992" lvl="1">
              <a:lnSpc>
                <a:spcPts val="3890"/>
              </a:lnSpc>
              <a:buFont typeface="Arial"/>
              <a:buChar char="•"/>
            </a:pPr>
            <a:r>
              <a:rPr lang="en-US" sz="3242">
                <a:solidFill>
                  <a:srgbClr val="0F1537"/>
                </a:solidFill>
                <a:latin typeface="Inter"/>
                <a:ea typeface="Inter"/>
                <a:cs typeface="Inter"/>
                <a:sym typeface="Inter"/>
              </a:rPr>
              <a:t>Removing redundant columns</a:t>
            </a:r>
          </a:p>
          <a:p>
            <a:pPr algn="l" marL="699984" indent="-349992" lvl="1">
              <a:lnSpc>
                <a:spcPts val="3890"/>
              </a:lnSpc>
              <a:buFont typeface="Arial"/>
              <a:buChar char="•"/>
            </a:pPr>
            <a:r>
              <a:rPr lang="en-US" sz="3242">
                <a:solidFill>
                  <a:srgbClr val="0F1537"/>
                </a:solidFill>
                <a:latin typeface="Inter"/>
                <a:ea typeface="Inter"/>
                <a:cs typeface="Inter"/>
                <a:sym typeface="Inter"/>
              </a:rPr>
              <a:t>Loading the cleaned dataset into MySQL for SQL analysis</a:t>
            </a:r>
          </a:p>
          <a:p>
            <a:pPr algn="l">
              <a:lnSpc>
                <a:spcPts val="3890"/>
              </a:lnSpc>
            </a:pPr>
          </a:p>
          <a:p>
            <a:pPr algn="l">
              <a:lnSpc>
                <a:spcPts val="3890"/>
              </a:lnSpc>
            </a:pPr>
          </a:p>
          <a:p>
            <a:pPr algn="l" marL="0" indent="0" lvl="0">
              <a:lnSpc>
                <a:spcPts val="389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sp>
        <p:nvSpPr>
          <p:cNvPr name="TextBox 2" id="2"/>
          <p:cNvSpPr txBox="true"/>
          <p:nvPr/>
        </p:nvSpPr>
        <p:spPr>
          <a:xfrm rot="0">
            <a:off x="2649867" y="823195"/>
            <a:ext cx="12988266" cy="1537966"/>
          </a:xfrm>
          <a:prstGeom prst="rect">
            <a:avLst/>
          </a:prstGeom>
        </p:spPr>
        <p:txBody>
          <a:bodyPr anchor="t" rtlCol="false" tIns="0" lIns="0" bIns="0" rIns="0">
            <a:spAutoFit/>
          </a:bodyPr>
          <a:lstStyle/>
          <a:p>
            <a:pPr algn="l" marL="0" indent="0" lvl="0">
              <a:lnSpc>
                <a:spcPts val="11273"/>
              </a:lnSpc>
            </a:pPr>
            <a:r>
              <a:rPr lang="en-US" sz="12525" spc="-1252">
                <a:solidFill>
                  <a:srgbClr val="0F1537"/>
                </a:solidFill>
                <a:latin typeface="Inter"/>
                <a:ea typeface="Inter"/>
                <a:cs typeface="Inter"/>
                <a:sym typeface="Inter"/>
              </a:rPr>
              <a:t>Key Business Insights</a:t>
            </a:r>
          </a:p>
        </p:txBody>
      </p:sp>
      <p:sp>
        <p:nvSpPr>
          <p:cNvPr name="AutoShape 3" id="3"/>
          <p:cNvSpPr/>
          <p:nvPr/>
        </p:nvSpPr>
        <p:spPr>
          <a:xfrm>
            <a:off x="7805455" y="9718897"/>
            <a:ext cx="2218165" cy="0"/>
          </a:xfrm>
          <a:prstGeom prst="line">
            <a:avLst/>
          </a:prstGeom>
          <a:ln cap="flat" w="9525">
            <a:solidFill>
              <a:srgbClr val="0F1537"/>
            </a:solidFill>
            <a:prstDash val="solid"/>
            <a:headEnd type="none" len="sm" w="sm"/>
            <a:tailEnd type="none" len="sm" w="sm"/>
          </a:ln>
        </p:spPr>
      </p:sp>
      <p:sp>
        <p:nvSpPr>
          <p:cNvPr name="Freeform 4" id="4"/>
          <p:cNvSpPr/>
          <p:nvPr/>
        </p:nvSpPr>
        <p:spPr>
          <a:xfrm flipH="false" flipV="false" rot="0">
            <a:off x="16655192" y="102870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37100" y="2813318"/>
            <a:ext cx="7906900" cy="5355821"/>
          </a:xfrm>
          <a:custGeom>
            <a:avLst/>
            <a:gdLst/>
            <a:ahLst/>
            <a:cxnLst/>
            <a:rect r="r" b="b" t="t" l="l"/>
            <a:pathLst>
              <a:path h="5355821" w="7906900">
                <a:moveTo>
                  <a:pt x="0" y="0"/>
                </a:moveTo>
                <a:lnTo>
                  <a:pt x="7906900" y="0"/>
                </a:lnTo>
                <a:lnTo>
                  <a:pt x="7906900" y="5355821"/>
                </a:lnTo>
                <a:lnTo>
                  <a:pt x="0" y="5355821"/>
                </a:lnTo>
                <a:lnTo>
                  <a:pt x="0" y="0"/>
                </a:lnTo>
                <a:close/>
              </a:path>
            </a:pathLst>
          </a:custGeom>
          <a:blipFill>
            <a:blip r:embed="rId4"/>
            <a:stretch>
              <a:fillRect l="-3316" t="0" r="-3316" b="-2291"/>
            </a:stretch>
          </a:blipFill>
        </p:spPr>
      </p:sp>
      <p:sp>
        <p:nvSpPr>
          <p:cNvPr name="Freeform 6" id="6"/>
          <p:cNvSpPr/>
          <p:nvPr/>
        </p:nvSpPr>
        <p:spPr>
          <a:xfrm flipH="false" flipV="false" rot="0">
            <a:off x="9721567" y="2615090"/>
            <a:ext cx="6933625" cy="5554050"/>
          </a:xfrm>
          <a:custGeom>
            <a:avLst/>
            <a:gdLst/>
            <a:ahLst/>
            <a:cxnLst/>
            <a:rect r="r" b="b" t="t" l="l"/>
            <a:pathLst>
              <a:path h="5554050" w="6933625">
                <a:moveTo>
                  <a:pt x="0" y="0"/>
                </a:moveTo>
                <a:lnTo>
                  <a:pt x="6933625" y="0"/>
                </a:lnTo>
                <a:lnTo>
                  <a:pt x="6933625" y="5554049"/>
                </a:lnTo>
                <a:lnTo>
                  <a:pt x="0" y="5554049"/>
                </a:lnTo>
                <a:lnTo>
                  <a:pt x="0" y="0"/>
                </a:lnTo>
                <a:close/>
              </a:path>
            </a:pathLst>
          </a:custGeom>
          <a:blipFill>
            <a:blip r:embed="rId5"/>
            <a:stretch>
              <a:fillRect l="-4110" t="-1953" r="-5296" b="0"/>
            </a:stretch>
          </a:blipFill>
        </p:spPr>
      </p:sp>
      <p:sp>
        <p:nvSpPr>
          <p:cNvPr name="TextBox 7" id="7"/>
          <p:cNvSpPr txBox="true"/>
          <p:nvPr/>
        </p:nvSpPr>
        <p:spPr>
          <a:xfrm rot="0">
            <a:off x="1924164" y="8603934"/>
            <a:ext cx="6532773" cy="761131"/>
          </a:xfrm>
          <a:prstGeom prst="rect">
            <a:avLst/>
          </a:prstGeom>
        </p:spPr>
        <p:txBody>
          <a:bodyPr anchor="t" rtlCol="false" tIns="0" lIns="0" bIns="0" rIns="0">
            <a:spAutoFit/>
          </a:bodyPr>
          <a:lstStyle/>
          <a:p>
            <a:pPr algn="l" marL="0" indent="0" lvl="0">
              <a:lnSpc>
                <a:spcPts val="2904"/>
              </a:lnSpc>
            </a:pPr>
            <a:r>
              <a:rPr lang="en-US" sz="3227" spc="-322">
                <a:solidFill>
                  <a:srgbClr val="0F1537"/>
                </a:solidFill>
                <a:latin typeface="Inter"/>
                <a:ea typeface="Inter"/>
                <a:cs typeface="Inter"/>
                <a:sym typeface="Inter"/>
              </a:rPr>
              <a:t>B</a:t>
            </a:r>
            <a:r>
              <a:rPr lang="en-US" sz="3227" spc="-322">
                <a:solidFill>
                  <a:srgbClr val="0F1537"/>
                </a:solidFill>
                <a:latin typeface="Inter"/>
                <a:ea typeface="Inter"/>
                <a:cs typeface="Inter"/>
                <a:sym typeface="Inter"/>
              </a:rPr>
              <a:t>louse, shirt,  dress, pant, jewelry, generated the most revenue</a:t>
            </a:r>
          </a:p>
        </p:txBody>
      </p:sp>
      <p:sp>
        <p:nvSpPr>
          <p:cNvPr name="TextBox 8" id="8"/>
          <p:cNvSpPr txBox="true"/>
          <p:nvPr/>
        </p:nvSpPr>
        <p:spPr>
          <a:xfrm rot="0">
            <a:off x="10023621" y="8603934"/>
            <a:ext cx="6532773" cy="761131"/>
          </a:xfrm>
          <a:prstGeom prst="rect">
            <a:avLst/>
          </a:prstGeom>
        </p:spPr>
        <p:txBody>
          <a:bodyPr anchor="t" rtlCol="false" tIns="0" lIns="0" bIns="0" rIns="0">
            <a:spAutoFit/>
          </a:bodyPr>
          <a:lstStyle/>
          <a:p>
            <a:pPr algn="l" marL="0" indent="0" lvl="0">
              <a:lnSpc>
                <a:spcPts val="2904"/>
              </a:lnSpc>
            </a:pPr>
            <a:r>
              <a:rPr lang="en-US" sz="3227" spc="-322">
                <a:solidFill>
                  <a:srgbClr val="0F1537"/>
                </a:solidFill>
                <a:latin typeface="Inter"/>
                <a:ea typeface="Inter"/>
                <a:cs typeface="Inter"/>
                <a:sym typeface="Inter"/>
              </a:rPr>
              <a:t>Fall  season has the most  revenue, along side winter and spring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sp>
        <p:nvSpPr>
          <p:cNvPr name="TextBox 2" id="2"/>
          <p:cNvSpPr txBox="true"/>
          <p:nvPr/>
        </p:nvSpPr>
        <p:spPr>
          <a:xfrm rot="0">
            <a:off x="804505" y="314325"/>
            <a:ext cx="10307137" cy="2622033"/>
          </a:xfrm>
          <a:prstGeom prst="rect">
            <a:avLst/>
          </a:prstGeom>
        </p:spPr>
        <p:txBody>
          <a:bodyPr anchor="t" rtlCol="false" tIns="0" lIns="0" bIns="0" rIns="0">
            <a:spAutoFit/>
          </a:bodyPr>
          <a:lstStyle/>
          <a:p>
            <a:pPr algn="l" marL="0" indent="0" lvl="0">
              <a:lnSpc>
                <a:spcPts val="9962"/>
              </a:lnSpc>
            </a:pPr>
            <a:r>
              <a:rPr lang="en-US" sz="11069" spc="-1106">
                <a:solidFill>
                  <a:srgbClr val="0F1537"/>
                </a:solidFill>
                <a:latin typeface="Inter"/>
                <a:ea typeface="Inter"/>
                <a:cs typeface="Inter"/>
                <a:sym typeface="Inter"/>
              </a:rPr>
              <a:t>Key Business</a:t>
            </a:r>
          </a:p>
          <a:p>
            <a:pPr algn="l" marL="0" indent="0" lvl="0">
              <a:lnSpc>
                <a:spcPts val="9962"/>
              </a:lnSpc>
            </a:pPr>
            <a:r>
              <a:rPr lang="en-US" sz="11069" spc="-1106">
                <a:solidFill>
                  <a:srgbClr val="0F1537"/>
                </a:solidFill>
                <a:latin typeface="Inter"/>
                <a:ea typeface="Inter"/>
                <a:cs typeface="Inter"/>
                <a:sym typeface="Inter"/>
              </a:rPr>
              <a:t>Insights</a:t>
            </a:r>
          </a:p>
        </p:txBody>
      </p:sp>
      <p:grpSp>
        <p:nvGrpSpPr>
          <p:cNvPr name="Group 3" id="3"/>
          <p:cNvGrpSpPr/>
          <p:nvPr/>
        </p:nvGrpSpPr>
        <p:grpSpPr>
          <a:xfrm rot="5400000">
            <a:off x="12434402" y="-1069027"/>
            <a:ext cx="1986915" cy="5543550"/>
            <a:chOff x="0" y="0"/>
            <a:chExt cx="1569908" cy="4380089"/>
          </a:xfrm>
        </p:grpSpPr>
        <p:sp>
          <p:nvSpPr>
            <p:cNvPr name="Freeform 4" id="4"/>
            <p:cNvSpPr/>
            <p:nvPr/>
          </p:nvSpPr>
          <p:spPr>
            <a:xfrm flipH="false" flipV="false" rot="0">
              <a:off x="0" y="0"/>
              <a:ext cx="1569908" cy="4380089"/>
            </a:xfrm>
            <a:custGeom>
              <a:avLst/>
              <a:gdLst/>
              <a:ahLst/>
              <a:cxnLst/>
              <a:rect r="r" b="b" t="t" l="l"/>
              <a:pathLst>
                <a:path h="4380089" w="1569908">
                  <a:moveTo>
                    <a:pt x="0" y="0"/>
                  </a:moveTo>
                  <a:lnTo>
                    <a:pt x="1569908" y="0"/>
                  </a:lnTo>
                  <a:lnTo>
                    <a:pt x="1569908" y="4380089"/>
                  </a:lnTo>
                  <a:lnTo>
                    <a:pt x="0" y="4380089"/>
                  </a:lnTo>
                  <a:close/>
                </a:path>
              </a:pathLst>
            </a:custGeom>
            <a:gradFill rotWithShape="true">
              <a:gsLst>
                <a:gs pos="0">
                  <a:srgbClr val="FFFFFF">
                    <a:alpha val="100000"/>
                  </a:srgbClr>
                </a:gs>
                <a:gs pos="100000">
                  <a:srgbClr val="DFE5E7">
                    <a:alpha val="0"/>
                  </a:srgbClr>
                </a:gs>
              </a:gsLst>
              <a:lin ang="0"/>
            </a:gradFill>
          </p:spPr>
        </p:sp>
        <p:sp>
          <p:nvSpPr>
            <p:cNvPr name="TextBox 5" id="5"/>
            <p:cNvSpPr txBox="true"/>
            <p:nvPr/>
          </p:nvSpPr>
          <p:spPr>
            <a:xfrm>
              <a:off x="0" y="-38100"/>
              <a:ext cx="1569908" cy="441818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6" id="6"/>
          <p:cNvSpPr/>
          <p:nvPr/>
        </p:nvSpPr>
        <p:spPr>
          <a:xfrm>
            <a:off x="7377104" y="9730275"/>
            <a:ext cx="2218165" cy="0"/>
          </a:xfrm>
          <a:prstGeom prst="line">
            <a:avLst/>
          </a:prstGeom>
          <a:ln cap="flat" w="9525">
            <a:solidFill>
              <a:srgbClr val="0F1537"/>
            </a:solidFill>
            <a:prstDash val="solid"/>
            <a:headEnd type="none" len="sm" w="sm"/>
            <a:tailEnd type="none" len="sm" w="sm"/>
          </a:ln>
        </p:spPr>
      </p:sp>
      <p:sp>
        <p:nvSpPr>
          <p:cNvPr name="Freeform 7" id="7"/>
          <p:cNvSpPr/>
          <p:nvPr/>
        </p:nvSpPr>
        <p:spPr>
          <a:xfrm flipH="false" flipV="false" rot="0">
            <a:off x="16655192" y="102870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804505" y="2941415"/>
            <a:ext cx="7397503" cy="5612054"/>
          </a:xfrm>
          <a:custGeom>
            <a:avLst/>
            <a:gdLst/>
            <a:ahLst/>
            <a:cxnLst/>
            <a:rect r="r" b="b" t="t" l="l"/>
            <a:pathLst>
              <a:path h="5612054" w="7397503">
                <a:moveTo>
                  <a:pt x="0" y="0"/>
                </a:moveTo>
                <a:lnTo>
                  <a:pt x="7397502" y="0"/>
                </a:lnTo>
                <a:lnTo>
                  <a:pt x="7397502" y="5612055"/>
                </a:lnTo>
                <a:lnTo>
                  <a:pt x="0" y="5612055"/>
                </a:lnTo>
                <a:lnTo>
                  <a:pt x="0" y="0"/>
                </a:lnTo>
                <a:close/>
              </a:path>
            </a:pathLst>
          </a:custGeom>
          <a:blipFill>
            <a:blip r:embed="rId4"/>
            <a:stretch>
              <a:fillRect l="-1076" t="-543" r="-10541" b="-543"/>
            </a:stretch>
          </a:blipFill>
        </p:spPr>
      </p:sp>
      <p:sp>
        <p:nvSpPr>
          <p:cNvPr name="Freeform 9" id="9"/>
          <p:cNvSpPr/>
          <p:nvPr/>
        </p:nvSpPr>
        <p:spPr>
          <a:xfrm flipH="false" flipV="false" rot="0">
            <a:off x="8456195" y="2472638"/>
            <a:ext cx="9515440" cy="5930855"/>
          </a:xfrm>
          <a:custGeom>
            <a:avLst/>
            <a:gdLst/>
            <a:ahLst/>
            <a:cxnLst/>
            <a:rect r="r" b="b" t="t" l="l"/>
            <a:pathLst>
              <a:path h="5930855" w="9515440">
                <a:moveTo>
                  <a:pt x="0" y="0"/>
                </a:moveTo>
                <a:lnTo>
                  <a:pt x="9515440" y="0"/>
                </a:lnTo>
                <a:lnTo>
                  <a:pt x="9515440" y="5930856"/>
                </a:lnTo>
                <a:lnTo>
                  <a:pt x="0" y="5930856"/>
                </a:lnTo>
                <a:lnTo>
                  <a:pt x="0" y="0"/>
                </a:lnTo>
                <a:close/>
              </a:path>
            </a:pathLst>
          </a:custGeom>
          <a:blipFill>
            <a:blip r:embed="rId5"/>
            <a:stretch>
              <a:fillRect l="-2836" t="0" r="-14551" b="0"/>
            </a:stretch>
          </a:blipFill>
        </p:spPr>
      </p:sp>
      <p:sp>
        <p:nvSpPr>
          <p:cNvPr name="TextBox 10" id="10"/>
          <p:cNvSpPr txBox="true"/>
          <p:nvPr/>
        </p:nvSpPr>
        <p:spPr>
          <a:xfrm rot="0">
            <a:off x="1416821" y="8801788"/>
            <a:ext cx="6532773" cy="761131"/>
          </a:xfrm>
          <a:prstGeom prst="rect">
            <a:avLst/>
          </a:prstGeom>
        </p:spPr>
        <p:txBody>
          <a:bodyPr anchor="t" rtlCol="false" tIns="0" lIns="0" bIns="0" rIns="0">
            <a:spAutoFit/>
          </a:bodyPr>
          <a:lstStyle/>
          <a:p>
            <a:pPr algn="l" marL="0" indent="0" lvl="0">
              <a:lnSpc>
                <a:spcPts val="2904"/>
              </a:lnSpc>
            </a:pPr>
            <a:r>
              <a:rPr lang="en-US" sz="3227" spc="-322">
                <a:solidFill>
                  <a:srgbClr val="0F1537"/>
                </a:solidFill>
                <a:latin typeface="Inter"/>
                <a:ea typeface="Inter"/>
                <a:cs typeface="Inter"/>
                <a:sym typeface="Inter"/>
              </a:rPr>
              <a:t>Both subscription status(yes/no) shows same median, quartile, interquartile range</a:t>
            </a:r>
          </a:p>
        </p:txBody>
      </p:sp>
      <p:sp>
        <p:nvSpPr>
          <p:cNvPr name="TextBox 11" id="11"/>
          <p:cNvSpPr txBox="true"/>
          <p:nvPr/>
        </p:nvSpPr>
        <p:spPr>
          <a:xfrm rot="0">
            <a:off x="10424473" y="8639195"/>
            <a:ext cx="6532773" cy="761131"/>
          </a:xfrm>
          <a:prstGeom prst="rect">
            <a:avLst/>
          </a:prstGeom>
        </p:spPr>
        <p:txBody>
          <a:bodyPr anchor="t" rtlCol="false" tIns="0" lIns="0" bIns="0" rIns="0">
            <a:spAutoFit/>
          </a:bodyPr>
          <a:lstStyle/>
          <a:p>
            <a:pPr algn="l" marL="0" indent="0" lvl="0">
              <a:lnSpc>
                <a:spcPts val="2904"/>
              </a:lnSpc>
            </a:pPr>
            <a:r>
              <a:rPr lang="en-US" sz="3227" spc="-322">
                <a:solidFill>
                  <a:srgbClr val="0F1537"/>
                </a:solidFill>
                <a:latin typeface="Inter"/>
                <a:ea typeface="Inter"/>
                <a:cs typeface="Inter"/>
                <a:sym typeface="Inter"/>
              </a:rPr>
              <a:t>Clothing category generated the most revenue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012923" cy="8865451"/>
            <a:chOff x="0" y="0"/>
            <a:chExt cx="1459700" cy="808153"/>
          </a:xfrm>
        </p:grpSpPr>
        <p:sp>
          <p:nvSpPr>
            <p:cNvPr name="Freeform 3" id="3"/>
            <p:cNvSpPr/>
            <p:nvPr/>
          </p:nvSpPr>
          <p:spPr>
            <a:xfrm flipH="false" flipV="false" rot="0">
              <a:off x="0" y="0"/>
              <a:ext cx="1459700" cy="808153"/>
            </a:xfrm>
            <a:custGeom>
              <a:avLst/>
              <a:gdLst/>
              <a:ahLst/>
              <a:cxnLst/>
              <a:rect r="r" b="b" t="t" l="l"/>
              <a:pathLst>
                <a:path h="808153" w="1459700">
                  <a:moveTo>
                    <a:pt x="0" y="0"/>
                  </a:moveTo>
                  <a:lnTo>
                    <a:pt x="1459700" y="0"/>
                  </a:lnTo>
                  <a:lnTo>
                    <a:pt x="1459700" y="808153"/>
                  </a:lnTo>
                  <a:lnTo>
                    <a:pt x="0" y="808153"/>
                  </a:lnTo>
                  <a:close/>
                </a:path>
              </a:pathLst>
            </a:custGeom>
            <a:blipFill>
              <a:blip r:embed="rId2"/>
              <a:stretch>
                <a:fillRect l="-496" t="-904" r="0" b="-932"/>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0">
            <a:off x="16340539" y="-509861"/>
            <a:ext cx="8695628" cy="2451219"/>
            <a:chOff x="0" y="0"/>
            <a:chExt cx="6870620" cy="1936765"/>
          </a:xfrm>
        </p:grpSpPr>
        <p:sp>
          <p:nvSpPr>
            <p:cNvPr name="Freeform 3" id="3"/>
            <p:cNvSpPr/>
            <p:nvPr/>
          </p:nvSpPr>
          <p:spPr>
            <a:xfrm flipH="false" flipV="false" rot="0">
              <a:off x="0" y="0"/>
              <a:ext cx="6870619" cy="1936765"/>
            </a:xfrm>
            <a:custGeom>
              <a:avLst/>
              <a:gdLst/>
              <a:ahLst/>
              <a:cxnLst/>
              <a:rect r="r" b="b" t="t" l="l"/>
              <a:pathLst>
                <a:path h="1936765" w="6870619">
                  <a:moveTo>
                    <a:pt x="0" y="0"/>
                  </a:moveTo>
                  <a:lnTo>
                    <a:pt x="6870619" y="0"/>
                  </a:lnTo>
                  <a:lnTo>
                    <a:pt x="6870619" y="1936765"/>
                  </a:lnTo>
                  <a:lnTo>
                    <a:pt x="0" y="1936765"/>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6870620" cy="197486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9523764" y="9136380"/>
            <a:ext cx="604108" cy="121920"/>
          </a:xfrm>
          <a:custGeom>
            <a:avLst/>
            <a:gdLst/>
            <a:ahLst/>
            <a:cxnLst/>
            <a:rect r="r" b="b" t="t" l="l"/>
            <a:pathLst>
              <a:path h="121920" w="604108">
                <a:moveTo>
                  <a:pt x="0" y="0"/>
                </a:moveTo>
                <a:lnTo>
                  <a:pt x="604108" y="0"/>
                </a:lnTo>
                <a:lnTo>
                  <a:pt x="604108" y="121920"/>
                </a:lnTo>
                <a:lnTo>
                  <a:pt x="0" y="121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43033" y="1314450"/>
            <a:ext cx="5011544" cy="1193810"/>
          </a:xfrm>
          <a:prstGeom prst="rect">
            <a:avLst/>
          </a:prstGeom>
        </p:spPr>
        <p:txBody>
          <a:bodyPr anchor="t" rtlCol="false" tIns="0" lIns="0" bIns="0" rIns="0">
            <a:spAutoFit/>
          </a:bodyPr>
          <a:lstStyle/>
          <a:p>
            <a:pPr algn="l" marL="0" indent="0" lvl="0">
              <a:lnSpc>
                <a:spcPts val="8754"/>
              </a:lnSpc>
            </a:pPr>
            <a:r>
              <a:rPr lang="en-US" sz="9727" spc="-972">
                <a:solidFill>
                  <a:srgbClr val="0F1537"/>
                </a:solidFill>
                <a:latin typeface="Inter"/>
                <a:ea typeface="Inter"/>
                <a:cs typeface="Inter"/>
                <a:sym typeface="Inter"/>
              </a:rPr>
              <a:t>Discussion</a:t>
            </a:r>
          </a:p>
        </p:txBody>
      </p:sp>
      <p:sp>
        <p:nvSpPr>
          <p:cNvPr name="TextBox 7" id="7"/>
          <p:cNvSpPr txBox="true"/>
          <p:nvPr/>
        </p:nvSpPr>
        <p:spPr>
          <a:xfrm rot="0">
            <a:off x="1579877" y="2736969"/>
            <a:ext cx="11393345" cy="1193810"/>
          </a:xfrm>
          <a:prstGeom prst="rect">
            <a:avLst/>
          </a:prstGeom>
        </p:spPr>
        <p:txBody>
          <a:bodyPr anchor="t" rtlCol="false" tIns="0" lIns="0" bIns="0" rIns="0">
            <a:spAutoFit/>
          </a:bodyPr>
          <a:lstStyle/>
          <a:p>
            <a:pPr algn="l" marL="0" indent="0" lvl="0">
              <a:lnSpc>
                <a:spcPts val="8754"/>
              </a:lnSpc>
            </a:pPr>
            <a:r>
              <a:rPr lang="en-US" sz="9727" spc="-972">
                <a:solidFill>
                  <a:srgbClr val="0F1537"/>
                </a:solidFill>
                <a:latin typeface="Inter"/>
                <a:ea typeface="Inter"/>
                <a:cs typeface="Inter"/>
                <a:sym typeface="Inter"/>
              </a:rPr>
              <a:t>Insights &amp; Strategy</a:t>
            </a:r>
          </a:p>
        </p:txBody>
      </p:sp>
      <p:sp>
        <p:nvSpPr>
          <p:cNvPr name="TextBox 8" id="8"/>
          <p:cNvSpPr txBox="true"/>
          <p:nvPr/>
        </p:nvSpPr>
        <p:spPr>
          <a:xfrm rot="0">
            <a:off x="0" y="3854579"/>
            <a:ext cx="18288000" cy="5980463"/>
          </a:xfrm>
          <a:prstGeom prst="rect">
            <a:avLst/>
          </a:prstGeom>
        </p:spPr>
        <p:txBody>
          <a:bodyPr anchor="t" rtlCol="false" tIns="0" lIns="0" bIns="0" rIns="0">
            <a:spAutoFit/>
          </a:bodyPr>
          <a:lstStyle/>
          <a:p>
            <a:pPr algn="ctr">
              <a:lnSpc>
                <a:spcPts val="5318"/>
              </a:lnSpc>
              <a:spcBef>
                <a:spcPct val="0"/>
              </a:spcBef>
            </a:pPr>
          </a:p>
          <a:p>
            <a:pPr algn="l" marL="820136" indent="-410068" lvl="1">
              <a:lnSpc>
                <a:spcPts val="5318"/>
              </a:lnSpc>
              <a:buFont typeface="Arial"/>
              <a:buChar char="•"/>
            </a:pPr>
            <a:r>
              <a:rPr lang="en-US" sz="3798" spc="-94">
                <a:solidFill>
                  <a:srgbClr val="0F1537"/>
                </a:solidFill>
                <a:latin typeface="Inter"/>
                <a:ea typeface="Inter"/>
                <a:cs typeface="Inter"/>
                <a:sym typeface="Inter"/>
              </a:rPr>
              <a:t>Customer spending is influenced by demographics, subscriptions, and product preferences.</a:t>
            </a:r>
          </a:p>
          <a:p>
            <a:pPr algn="l" marL="820136" indent="-410068" lvl="1">
              <a:lnSpc>
                <a:spcPts val="5318"/>
              </a:lnSpc>
              <a:buFont typeface="Arial"/>
              <a:buChar char="•"/>
            </a:pPr>
            <a:r>
              <a:rPr lang="en-US" sz="3798" spc="-94">
                <a:solidFill>
                  <a:srgbClr val="0F1537"/>
                </a:solidFill>
                <a:latin typeface="Inter"/>
                <a:ea typeface="Inter"/>
                <a:cs typeface="Inter"/>
                <a:sym typeface="Inter"/>
              </a:rPr>
              <a:t>Loyalty programs encourage higher spending and repeat purchases.</a:t>
            </a:r>
          </a:p>
          <a:p>
            <a:pPr algn="l" marL="820136" indent="-410068" lvl="1">
              <a:lnSpc>
                <a:spcPts val="5318"/>
              </a:lnSpc>
              <a:buFont typeface="Arial"/>
              <a:buChar char="•"/>
            </a:pPr>
            <a:r>
              <a:rPr lang="en-US" sz="3798" spc="-94">
                <a:solidFill>
                  <a:srgbClr val="0F1537"/>
                </a:solidFill>
                <a:latin typeface="Inter"/>
                <a:ea typeface="Inter"/>
                <a:cs typeface="Inter"/>
                <a:sym typeface="Inter"/>
              </a:rPr>
              <a:t>Top-performing products and customer segments provide opportunities for targeted marketing.</a:t>
            </a:r>
          </a:p>
          <a:p>
            <a:pPr algn="l" marL="820136" indent="-410068" lvl="1">
              <a:lnSpc>
                <a:spcPts val="5318"/>
              </a:lnSpc>
              <a:buFont typeface="Arial"/>
              <a:buChar char="•"/>
            </a:pPr>
            <a:r>
              <a:rPr lang="en-US" sz="3798" spc="-94">
                <a:solidFill>
                  <a:srgbClr val="0F1537"/>
                </a:solidFill>
                <a:latin typeface="Inter"/>
                <a:ea typeface="Inter"/>
                <a:cs typeface="Inter"/>
                <a:sym typeface="Inter"/>
              </a:rPr>
              <a:t>Data-driven decisions can improve customer engagement, retention, and long-term business growth.</a:t>
            </a:r>
          </a:p>
          <a:p>
            <a:pPr algn="ctr">
              <a:lnSpc>
                <a:spcPts val="531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DFE5E7"/>
        </a:solidFill>
      </p:bgPr>
    </p:bg>
    <p:spTree>
      <p:nvGrpSpPr>
        <p:cNvPr id="1" name=""/>
        <p:cNvGrpSpPr/>
        <p:nvPr/>
      </p:nvGrpSpPr>
      <p:grpSpPr>
        <a:xfrm>
          <a:off x="0" y="0"/>
          <a:ext cx="0" cy="0"/>
          <a:chOff x="0" y="0"/>
          <a:chExt cx="0" cy="0"/>
        </a:xfrm>
      </p:grpSpPr>
      <p:grpSp>
        <p:nvGrpSpPr>
          <p:cNvPr name="Group 2" id="2"/>
          <p:cNvGrpSpPr/>
          <p:nvPr/>
        </p:nvGrpSpPr>
        <p:grpSpPr>
          <a:xfrm rot="-5400000">
            <a:off x="-1553970" y="-1822553"/>
            <a:ext cx="2437918" cy="3829776"/>
            <a:chOff x="0" y="0"/>
            <a:chExt cx="1926256" cy="3025996"/>
          </a:xfrm>
        </p:grpSpPr>
        <p:sp>
          <p:nvSpPr>
            <p:cNvPr name="Freeform 3" id="3"/>
            <p:cNvSpPr/>
            <p:nvPr/>
          </p:nvSpPr>
          <p:spPr>
            <a:xfrm flipH="false" flipV="false" rot="0">
              <a:off x="0" y="0"/>
              <a:ext cx="1926256" cy="3025996"/>
            </a:xfrm>
            <a:custGeom>
              <a:avLst/>
              <a:gdLst/>
              <a:ahLst/>
              <a:cxnLst/>
              <a:rect r="r" b="b" t="t" l="l"/>
              <a:pathLst>
                <a:path h="3025996" w="1926256">
                  <a:moveTo>
                    <a:pt x="0" y="0"/>
                  </a:moveTo>
                  <a:lnTo>
                    <a:pt x="1926256" y="0"/>
                  </a:lnTo>
                  <a:lnTo>
                    <a:pt x="1926256" y="3025996"/>
                  </a:lnTo>
                  <a:lnTo>
                    <a:pt x="0" y="3025996"/>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4" id="4"/>
            <p:cNvSpPr txBox="true"/>
            <p:nvPr/>
          </p:nvSpPr>
          <p:spPr>
            <a:xfrm>
              <a:off x="0" y="-38100"/>
              <a:ext cx="1926256" cy="306409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1872635"/>
            <a:ext cx="15537711" cy="8315412"/>
            <a:chOff x="0" y="0"/>
            <a:chExt cx="12276710" cy="6570202"/>
          </a:xfrm>
        </p:grpSpPr>
        <p:sp>
          <p:nvSpPr>
            <p:cNvPr name="Freeform 6" id="6"/>
            <p:cNvSpPr/>
            <p:nvPr/>
          </p:nvSpPr>
          <p:spPr>
            <a:xfrm flipH="false" flipV="false" rot="0">
              <a:off x="0" y="0"/>
              <a:ext cx="12276710" cy="6570202"/>
            </a:xfrm>
            <a:custGeom>
              <a:avLst/>
              <a:gdLst/>
              <a:ahLst/>
              <a:cxnLst/>
              <a:rect r="r" b="b" t="t" l="l"/>
              <a:pathLst>
                <a:path h="6570202" w="12276710">
                  <a:moveTo>
                    <a:pt x="24415" y="0"/>
                  </a:moveTo>
                  <a:lnTo>
                    <a:pt x="12252295" y="0"/>
                  </a:lnTo>
                  <a:cubicBezTo>
                    <a:pt x="12258770" y="0"/>
                    <a:pt x="12264980" y="2572"/>
                    <a:pt x="12269559" y="7151"/>
                  </a:cubicBezTo>
                  <a:cubicBezTo>
                    <a:pt x="12274138" y="11730"/>
                    <a:pt x="12276710" y="17940"/>
                    <a:pt x="12276710" y="24415"/>
                  </a:cubicBezTo>
                  <a:lnTo>
                    <a:pt x="12276710" y="6545787"/>
                  </a:lnTo>
                  <a:cubicBezTo>
                    <a:pt x="12276710" y="6552262"/>
                    <a:pt x="12274138" y="6558473"/>
                    <a:pt x="12269559" y="6563051"/>
                  </a:cubicBezTo>
                  <a:cubicBezTo>
                    <a:pt x="12264980" y="6567630"/>
                    <a:pt x="12258770" y="6570202"/>
                    <a:pt x="12252295" y="6570202"/>
                  </a:cubicBezTo>
                  <a:lnTo>
                    <a:pt x="24415" y="6570202"/>
                  </a:lnTo>
                  <a:cubicBezTo>
                    <a:pt x="17940" y="6570202"/>
                    <a:pt x="11730" y="6567630"/>
                    <a:pt x="7151" y="6563051"/>
                  </a:cubicBezTo>
                  <a:cubicBezTo>
                    <a:pt x="2572" y="6558473"/>
                    <a:pt x="0" y="6552262"/>
                    <a:pt x="0" y="6545787"/>
                  </a:cubicBezTo>
                  <a:lnTo>
                    <a:pt x="0" y="24415"/>
                  </a:lnTo>
                  <a:cubicBezTo>
                    <a:pt x="0" y="17940"/>
                    <a:pt x="2572" y="11730"/>
                    <a:pt x="7151" y="7151"/>
                  </a:cubicBezTo>
                  <a:cubicBezTo>
                    <a:pt x="11730" y="2572"/>
                    <a:pt x="17940" y="0"/>
                    <a:pt x="24415" y="0"/>
                  </a:cubicBezTo>
                  <a:close/>
                </a:path>
              </a:pathLst>
            </a:custGeom>
            <a:solidFill>
              <a:srgbClr val="0F1537"/>
            </a:solidFill>
            <a:ln cap="rnd">
              <a:noFill/>
              <a:prstDash val="solid"/>
              <a:round/>
            </a:ln>
          </p:spPr>
        </p:sp>
        <p:sp>
          <p:nvSpPr>
            <p:cNvPr name="TextBox 7" id="7"/>
            <p:cNvSpPr txBox="true"/>
            <p:nvPr/>
          </p:nvSpPr>
          <p:spPr>
            <a:xfrm>
              <a:off x="0" y="-38100"/>
              <a:ext cx="12276710" cy="660830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8" id="8"/>
          <p:cNvSpPr/>
          <p:nvPr/>
        </p:nvSpPr>
        <p:spPr>
          <a:xfrm flipV="true">
            <a:off x="16913483" y="4780219"/>
            <a:ext cx="0" cy="1587092"/>
          </a:xfrm>
          <a:prstGeom prst="line">
            <a:avLst/>
          </a:prstGeom>
          <a:ln cap="flat" w="9525">
            <a:solidFill>
              <a:srgbClr val="0F1537"/>
            </a:solidFill>
            <a:prstDash val="solid"/>
            <a:headEnd type="none" len="sm" w="sm"/>
            <a:tailEnd type="none" len="sm" w="sm"/>
          </a:ln>
        </p:spPr>
      </p:sp>
      <p:sp>
        <p:nvSpPr>
          <p:cNvPr name="TextBox 9" id="9"/>
          <p:cNvSpPr txBox="true"/>
          <p:nvPr/>
        </p:nvSpPr>
        <p:spPr>
          <a:xfrm rot="0">
            <a:off x="3972543" y="893160"/>
            <a:ext cx="8115300" cy="1093443"/>
          </a:xfrm>
          <a:prstGeom prst="rect">
            <a:avLst/>
          </a:prstGeom>
        </p:spPr>
        <p:txBody>
          <a:bodyPr anchor="t" rtlCol="false" tIns="0" lIns="0" bIns="0" rIns="0">
            <a:spAutoFit/>
          </a:bodyPr>
          <a:lstStyle/>
          <a:p>
            <a:pPr algn="l" marL="0" indent="0" lvl="0">
              <a:lnSpc>
                <a:spcPts val="8001"/>
              </a:lnSpc>
            </a:pPr>
            <a:r>
              <a:rPr lang="en-US" sz="8890" spc="-889">
                <a:solidFill>
                  <a:srgbClr val="0F1537"/>
                </a:solidFill>
                <a:latin typeface="Inter"/>
                <a:ea typeface="Inter"/>
                <a:cs typeface="Inter"/>
                <a:sym typeface="Inter"/>
              </a:rPr>
              <a:t>Recommendations</a:t>
            </a:r>
          </a:p>
        </p:txBody>
      </p:sp>
      <p:sp>
        <p:nvSpPr>
          <p:cNvPr name="TextBox 10" id="10"/>
          <p:cNvSpPr txBox="true"/>
          <p:nvPr/>
        </p:nvSpPr>
        <p:spPr>
          <a:xfrm rot="0">
            <a:off x="2029878" y="2015069"/>
            <a:ext cx="13535354" cy="8271931"/>
          </a:xfrm>
          <a:prstGeom prst="rect">
            <a:avLst/>
          </a:prstGeom>
        </p:spPr>
        <p:txBody>
          <a:bodyPr anchor="t" rtlCol="false" tIns="0" lIns="0" bIns="0" rIns="0">
            <a:spAutoFit/>
          </a:bodyPr>
          <a:lstStyle/>
          <a:p>
            <a:pPr algn="l" marL="479706" indent="-239853" lvl="1">
              <a:lnSpc>
                <a:spcPts val="3110"/>
              </a:lnSpc>
              <a:buFont typeface="Arial"/>
              <a:buChar char="•"/>
            </a:pPr>
            <a:r>
              <a:rPr lang="en-US" sz="2221">
                <a:solidFill>
                  <a:srgbClr val="DFE5E7"/>
                </a:solidFill>
                <a:latin typeface="Inter"/>
                <a:ea typeface="Inter"/>
                <a:cs typeface="Inter"/>
                <a:sym typeface="Inter"/>
              </a:rPr>
              <a:t>Leverage the high-performing </a:t>
            </a:r>
            <a:r>
              <a:rPr lang="en-US" sz="2221">
                <a:solidFill>
                  <a:srgbClr val="DFE5E7"/>
                </a:solidFill>
                <a:latin typeface="Inter"/>
                <a:ea typeface="Inter"/>
                <a:cs typeface="Inter"/>
                <a:sym typeface="Inter"/>
              </a:rPr>
              <a:t>Clothing category to drive revenue by cross-selling complementary products.</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Increase customer retention through targeted lifecycle marketing that encourages repeat purchases.</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Develop marketing campaigns tailored to female customers, who represent a high-value customer segment.</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Promote top-selling products in each category as featured items across the website, advertising campaigns, and search results.</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Strengthen customer loyalty by offering exclusive rewards, early access, and referral incentives to loyal customers.</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Convert new and returning customers into loyal buyers using personalized post-purchase emails, product recommendations, and progressive rewards.</a:t>
            </a:r>
          </a:p>
          <a:p>
            <a:pPr algn="l">
              <a:lnSpc>
                <a:spcPts val="3110"/>
              </a:lnSpc>
            </a:pPr>
          </a:p>
          <a:p>
            <a:pPr algn="l" marL="479706" indent="-239853" lvl="1">
              <a:lnSpc>
                <a:spcPts val="3110"/>
              </a:lnSpc>
              <a:buFont typeface="Arial"/>
              <a:buChar char="•"/>
            </a:pPr>
            <a:r>
              <a:rPr lang="en-US" sz="2221">
                <a:solidFill>
                  <a:srgbClr val="DFE5E7"/>
                </a:solidFill>
                <a:latin typeface="Inter"/>
                <a:ea typeface="Inter"/>
                <a:cs typeface="Inter"/>
                <a:sym typeface="Inter"/>
              </a:rPr>
              <a:t>Prioritize high-value customer segments, including high-revenue age groups and express-shipping customers, with targeted promotions and personalized offers.</a:t>
            </a:r>
          </a:p>
          <a:p>
            <a:pPr algn="l" marL="0" indent="0" lvl="0">
              <a:lnSpc>
                <a:spcPts val="3772"/>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FE5E7"/>
        </a:solidFill>
      </p:bgPr>
    </p:bg>
    <p:spTree>
      <p:nvGrpSpPr>
        <p:cNvPr id="1" name=""/>
        <p:cNvGrpSpPr/>
        <p:nvPr/>
      </p:nvGrpSpPr>
      <p:grpSpPr>
        <a:xfrm>
          <a:off x="0" y="0"/>
          <a:ext cx="0" cy="0"/>
          <a:chOff x="0" y="0"/>
          <a:chExt cx="0" cy="0"/>
        </a:xfrm>
      </p:grpSpPr>
      <p:sp>
        <p:nvSpPr>
          <p:cNvPr name="TextBox 2" id="2"/>
          <p:cNvSpPr txBox="true"/>
          <p:nvPr/>
        </p:nvSpPr>
        <p:spPr>
          <a:xfrm rot="0">
            <a:off x="7446933" y="1331175"/>
            <a:ext cx="8115300" cy="1871651"/>
          </a:xfrm>
          <a:prstGeom prst="rect">
            <a:avLst/>
          </a:prstGeom>
        </p:spPr>
        <p:txBody>
          <a:bodyPr anchor="t" rtlCol="false" tIns="0" lIns="0" bIns="0" rIns="0">
            <a:spAutoFit/>
          </a:bodyPr>
          <a:lstStyle/>
          <a:p>
            <a:pPr algn="l" marL="0" indent="0" lvl="0">
              <a:lnSpc>
                <a:spcPts val="13603"/>
              </a:lnSpc>
            </a:pPr>
            <a:r>
              <a:rPr lang="en-US" sz="15115" spc="-1511">
                <a:solidFill>
                  <a:srgbClr val="0F1537"/>
                </a:solidFill>
                <a:latin typeface="Inter"/>
                <a:ea typeface="Inter"/>
                <a:cs typeface="Inter"/>
                <a:sym typeface="Inter"/>
              </a:rPr>
              <a:t>Conclusion</a:t>
            </a:r>
          </a:p>
        </p:txBody>
      </p:sp>
      <p:grpSp>
        <p:nvGrpSpPr>
          <p:cNvPr name="Group 3" id="3"/>
          <p:cNvGrpSpPr/>
          <p:nvPr/>
        </p:nvGrpSpPr>
        <p:grpSpPr>
          <a:xfrm rot="-10800000">
            <a:off x="0" y="4498105"/>
            <a:ext cx="4057650" cy="5788895"/>
            <a:chOff x="0" y="0"/>
            <a:chExt cx="3206044" cy="4573942"/>
          </a:xfrm>
        </p:grpSpPr>
        <p:sp>
          <p:nvSpPr>
            <p:cNvPr name="Freeform 4" id="4"/>
            <p:cNvSpPr/>
            <p:nvPr/>
          </p:nvSpPr>
          <p:spPr>
            <a:xfrm flipH="false" flipV="false" rot="0">
              <a:off x="0" y="0"/>
              <a:ext cx="3206044" cy="4573942"/>
            </a:xfrm>
            <a:custGeom>
              <a:avLst/>
              <a:gdLst/>
              <a:ahLst/>
              <a:cxnLst/>
              <a:rect r="r" b="b" t="t" l="l"/>
              <a:pathLst>
                <a:path h="4573942" w="3206044">
                  <a:moveTo>
                    <a:pt x="0" y="0"/>
                  </a:moveTo>
                  <a:lnTo>
                    <a:pt x="3206044" y="0"/>
                  </a:lnTo>
                  <a:lnTo>
                    <a:pt x="3206044" y="4573942"/>
                  </a:lnTo>
                  <a:lnTo>
                    <a:pt x="0" y="4573942"/>
                  </a:lnTo>
                  <a:close/>
                </a:path>
              </a:pathLst>
            </a:custGeom>
            <a:gradFill rotWithShape="true">
              <a:gsLst>
                <a:gs pos="0">
                  <a:srgbClr val="FF4500">
                    <a:alpha val="0"/>
                  </a:srgbClr>
                </a:gs>
                <a:gs pos="50000">
                  <a:srgbClr val="FF4500">
                    <a:alpha val="49500"/>
                  </a:srgbClr>
                </a:gs>
                <a:gs pos="100000">
                  <a:srgbClr val="FF4500">
                    <a:alpha val="100000"/>
                  </a:srgbClr>
                </a:gs>
              </a:gsLst>
              <a:lin ang="18900000"/>
            </a:gradFill>
          </p:spPr>
        </p:sp>
        <p:sp>
          <p:nvSpPr>
            <p:cNvPr name="TextBox 5" id="5"/>
            <p:cNvSpPr txBox="true"/>
            <p:nvPr/>
          </p:nvSpPr>
          <p:spPr>
            <a:xfrm>
              <a:off x="0" y="-38100"/>
              <a:ext cx="3206044" cy="461204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578822" y="1935020"/>
            <a:ext cx="6057900" cy="6416959"/>
            <a:chOff x="0" y="0"/>
            <a:chExt cx="938527" cy="994155"/>
          </a:xfrm>
        </p:grpSpPr>
        <p:sp>
          <p:nvSpPr>
            <p:cNvPr name="Freeform 7" id="7"/>
            <p:cNvSpPr/>
            <p:nvPr/>
          </p:nvSpPr>
          <p:spPr>
            <a:xfrm flipH="false" flipV="false" rot="0">
              <a:off x="0" y="0"/>
              <a:ext cx="938527" cy="994155"/>
            </a:xfrm>
            <a:custGeom>
              <a:avLst/>
              <a:gdLst/>
              <a:ahLst/>
              <a:cxnLst/>
              <a:rect r="r" b="b" t="t" l="l"/>
              <a:pathLst>
                <a:path h="994155" w="938527">
                  <a:moveTo>
                    <a:pt x="44730" y="0"/>
                  </a:moveTo>
                  <a:lnTo>
                    <a:pt x="893798" y="0"/>
                  </a:lnTo>
                  <a:cubicBezTo>
                    <a:pt x="918501" y="0"/>
                    <a:pt x="938527" y="20026"/>
                    <a:pt x="938527" y="44730"/>
                  </a:cubicBezTo>
                  <a:lnTo>
                    <a:pt x="938527" y="949425"/>
                  </a:lnTo>
                  <a:cubicBezTo>
                    <a:pt x="938527" y="961288"/>
                    <a:pt x="933815" y="972666"/>
                    <a:pt x="925426" y="981054"/>
                  </a:cubicBezTo>
                  <a:cubicBezTo>
                    <a:pt x="917038" y="989442"/>
                    <a:pt x="905661" y="994155"/>
                    <a:pt x="893798" y="994155"/>
                  </a:cubicBezTo>
                  <a:lnTo>
                    <a:pt x="44730" y="994155"/>
                  </a:lnTo>
                  <a:cubicBezTo>
                    <a:pt x="20026" y="994155"/>
                    <a:pt x="0" y="974129"/>
                    <a:pt x="0" y="949425"/>
                  </a:cubicBezTo>
                  <a:lnTo>
                    <a:pt x="0" y="44730"/>
                  </a:lnTo>
                  <a:cubicBezTo>
                    <a:pt x="0" y="20026"/>
                    <a:pt x="20026" y="0"/>
                    <a:pt x="44730" y="0"/>
                  </a:cubicBezTo>
                  <a:close/>
                </a:path>
              </a:pathLst>
            </a:custGeom>
            <a:blipFill>
              <a:blip r:embed="rId2"/>
              <a:stretch>
                <a:fillRect l="0" t="-15" r="0" b="-15"/>
              </a:stretch>
            </a:blipFill>
          </p:spPr>
        </p:sp>
      </p:grpSp>
      <p:grpSp>
        <p:nvGrpSpPr>
          <p:cNvPr name="Group 8" id="8"/>
          <p:cNvGrpSpPr/>
          <p:nvPr/>
        </p:nvGrpSpPr>
        <p:grpSpPr>
          <a:xfrm rot="5400000">
            <a:off x="15392669" y="-429062"/>
            <a:ext cx="1742156" cy="3718944"/>
            <a:chOff x="0" y="0"/>
            <a:chExt cx="1376518" cy="2938425"/>
          </a:xfrm>
        </p:grpSpPr>
        <p:sp>
          <p:nvSpPr>
            <p:cNvPr name="Freeform 9" id="9"/>
            <p:cNvSpPr/>
            <p:nvPr/>
          </p:nvSpPr>
          <p:spPr>
            <a:xfrm flipH="false" flipV="false" rot="0">
              <a:off x="0" y="0"/>
              <a:ext cx="1376518" cy="2938425"/>
            </a:xfrm>
            <a:custGeom>
              <a:avLst/>
              <a:gdLst/>
              <a:ahLst/>
              <a:cxnLst/>
              <a:rect r="r" b="b" t="t" l="l"/>
              <a:pathLst>
                <a:path h="2938425" w="1376518">
                  <a:moveTo>
                    <a:pt x="0" y="0"/>
                  </a:moveTo>
                  <a:lnTo>
                    <a:pt x="1376518" y="0"/>
                  </a:lnTo>
                  <a:lnTo>
                    <a:pt x="1376518" y="2938425"/>
                  </a:lnTo>
                  <a:lnTo>
                    <a:pt x="0" y="2938425"/>
                  </a:lnTo>
                  <a:close/>
                </a:path>
              </a:pathLst>
            </a:custGeom>
            <a:gradFill rotWithShape="true">
              <a:gsLst>
                <a:gs pos="0">
                  <a:srgbClr val="FFFFFF">
                    <a:alpha val="100000"/>
                  </a:srgbClr>
                </a:gs>
                <a:gs pos="100000">
                  <a:srgbClr val="DFE5E7">
                    <a:alpha val="0"/>
                  </a:srgbClr>
                </a:gs>
              </a:gsLst>
              <a:lin ang="0"/>
            </a:gradFill>
          </p:spPr>
        </p:sp>
        <p:sp>
          <p:nvSpPr>
            <p:cNvPr name="TextBox 10" id="10"/>
            <p:cNvSpPr txBox="true"/>
            <p:nvPr/>
          </p:nvSpPr>
          <p:spPr>
            <a:xfrm>
              <a:off x="0" y="-38100"/>
              <a:ext cx="1376518" cy="297652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1" id="11"/>
          <p:cNvSpPr/>
          <p:nvPr/>
        </p:nvSpPr>
        <p:spPr>
          <a:xfrm flipV="true">
            <a:off x="14404275" y="782025"/>
            <a:ext cx="3718944" cy="0"/>
          </a:xfrm>
          <a:prstGeom prst="line">
            <a:avLst/>
          </a:prstGeom>
          <a:ln cap="flat" w="76200">
            <a:solidFill>
              <a:srgbClr val="FF4500"/>
            </a:solidFill>
            <a:prstDash val="solid"/>
            <a:headEnd type="none" len="sm" w="sm"/>
            <a:tailEnd type="none" len="sm" w="sm"/>
          </a:ln>
        </p:spPr>
      </p:sp>
      <p:grpSp>
        <p:nvGrpSpPr>
          <p:cNvPr name="Group 12" id="12"/>
          <p:cNvGrpSpPr/>
          <p:nvPr/>
        </p:nvGrpSpPr>
        <p:grpSpPr>
          <a:xfrm rot="5400000">
            <a:off x="9388156" y="1358384"/>
            <a:ext cx="5113574" cy="8637608"/>
            <a:chOff x="0" y="0"/>
            <a:chExt cx="4040355" cy="6824776"/>
          </a:xfrm>
        </p:grpSpPr>
        <p:sp>
          <p:nvSpPr>
            <p:cNvPr name="Freeform 13" id="13"/>
            <p:cNvSpPr/>
            <p:nvPr/>
          </p:nvSpPr>
          <p:spPr>
            <a:xfrm flipH="false" flipV="false" rot="0">
              <a:off x="0" y="0"/>
              <a:ext cx="4040355" cy="6824776"/>
            </a:xfrm>
            <a:custGeom>
              <a:avLst/>
              <a:gdLst/>
              <a:ahLst/>
              <a:cxnLst/>
              <a:rect r="r" b="b" t="t" l="l"/>
              <a:pathLst>
                <a:path h="6824776" w="4040355">
                  <a:moveTo>
                    <a:pt x="0" y="0"/>
                  </a:moveTo>
                  <a:lnTo>
                    <a:pt x="4040355" y="0"/>
                  </a:lnTo>
                  <a:lnTo>
                    <a:pt x="4040355" y="6824776"/>
                  </a:lnTo>
                  <a:lnTo>
                    <a:pt x="0" y="6824776"/>
                  </a:lnTo>
                  <a:close/>
                </a:path>
              </a:pathLst>
            </a:custGeom>
            <a:gradFill rotWithShape="true">
              <a:gsLst>
                <a:gs pos="0">
                  <a:srgbClr val="FFFFFF">
                    <a:alpha val="100000"/>
                  </a:srgbClr>
                </a:gs>
                <a:gs pos="100000">
                  <a:srgbClr val="DFE5E7">
                    <a:alpha val="0"/>
                  </a:srgbClr>
                </a:gs>
              </a:gsLst>
              <a:lin ang="0"/>
            </a:gradFill>
          </p:spPr>
        </p:sp>
        <p:sp>
          <p:nvSpPr>
            <p:cNvPr name="TextBox 14" id="14"/>
            <p:cNvSpPr txBox="true"/>
            <p:nvPr/>
          </p:nvSpPr>
          <p:spPr>
            <a:xfrm>
              <a:off x="0" y="-38100"/>
              <a:ext cx="4040355" cy="686287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7887293" y="3063251"/>
            <a:ext cx="8115300" cy="4246877"/>
          </a:xfrm>
          <a:prstGeom prst="rect">
            <a:avLst/>
          </a:prstGeom>
        </p:spPr>
        <p:txBody>
          <a:bodyPr anchor="t" rtlCol="false" tIns="0" lIns="0" bIns="0" rIns="0">
            <a:spAutoFit/>
          </a:bodyPr>
          <a:lstStyle/>
          <a:p>
            <a:pPr algn="l">
              <a:lnSpc>
                <a:spcPts val="4270"/>
              </a:lnSpc>
              <a:spcBef>
                <a:spcPct val="0"/>
              </a:spcBef>
            </a:pPr>
            <a:r>
              <a:rPr lang="en-US" sz="3050">
                <a:solidFill>
                  <a:srgbClr val="0F1537"/>
                </a:solidFill>
                <a:latin typeface="Canva Sans"/>
                <a:ea typeface="Canva Sans"/>
                <a:cs typeface="Canva Sans"/>
                <a:sym typeface="Canva Sans"/>
              </a:rPr>
              <a:t>This analysis revealed key patterns in cust</a:t>
            </a:r>
            <a:r>
              <a:rPr lang="en-US" sz="3050">
                <a:solidFill>
                  <a:srgbClr val="0F1537"/>
                </a:solidFill>
                <a:latin typeface="Canva Sans"/>
                <a:ea typeface="Canva Sans"/>
                <a:cs typeface="Canva Sans"/>
                <a:sym typeface="Canva Sans"/>
              </a:rPr>
              <a:t>omer behavior, product performance, and purchasing trends that can support smarter business decisions. By applying these insights, the company can improve customer loyalty, optimize marketing efforts, increase revenue, and drive long-term business growth.</a:t>
            </a:r>
          </a:p>
        </p:txBody>
      </p:sp>
      <p:grpSp>
        <p:nvGrpSpPr>
          <p:cNvPr name="Group 16" id="16"/>
          <p:cNvGrpSpPr/>
          <p:nvPr/>
        </p:nvGrpSpPr>
        <p:grpSpPr>
          <a:xfrm rot="0">
            <a:off x="13398136" y="8580325"/>
            <a:ext cx="3597574" cy="776598"/>
            <a:chOff x="0" y="0"/>
            <a:chExt cx="3280149" cy="708076"/>
          </a:xfrm>
        </p:grpSpPr>
        <p:sp>
          <p:nvSpPr>
            <p:cNvPr name="Freeform 17" id="17"/>
            <p:cNvSpPr/>
            <p:nvPr/>
          </p:nvSpPr>
          <p:spPr>
            <a:xfrm flipH="false" flipV="false" rot="0">
              <a:off x="0" y="0"/>
              <a:ext cx="3280149" cy="708076"/>
            </a:xfrm>
            <a:custGeom>
              <a:avLst/>
              <a:gdLst/>
              <a:ahLst/>
              <a:cxnLst/>
              <a:rect r="r" b="b" t="t" l="l"/>
              <a:pathLst>
                <a:path h="708076" w="3280149">
                  <a:moveTo>
                    <a:pt x="215198" y="0"/>
                  </a:moveTo>
                  <a:lnTo>
                    <a:pt x="3064951" y="0"/>
                  </a:lnTo>
                  <a:cubicBezTo>
                    <a:pt x="3183801" y="0"/>
                    <a:pt x="3280149" y="96348"/>
                    <a:pt x="3280149" y="215198"/>
                  </a:cubicBezTo>
                  <a:lnTo>
                    <a:pt x="3280149" y="492878"/>
                  </a:lnTo>
                  <a:cubicBezTo>
                    <a:pt x="3280149" y="549952"/>
                    <a:pt x="3257476" y="604688"/>
                    <a:pt x="3217119" y="645046"/>
                  </a:cubicBezTo>
                  <a:cubicBezTo>
                    <a:pt x="3176761" y="685403"/>
                    <a:pt x="3122025" y="708076"/>
                    <a:pt x="3064951" y="708076"/>
                  </a:cubicBezTo>
                  <a:lnTo>
                    <a:pt x="215198" y="708076"/>
                  </a:lnTo>
                  <a:cubicBezTo>
                    <a:pt x="158124" y="708076"/>
                    <a:pt x="103388" y="685403"/>
                    <a:pt x="63030" y="645046"/>
                  </a:cubicBezTo>
                  <a:cubicBezTo>
                    <a:pt x="22673" y="604688"/>
                    <a:pt x="0" y="549952"/>
                    <a:pt x="0" y="492878"/>
                  </a:cubicBezTo>
                  <a:lnTo>
                    <a:pt x="0" y="215198"/>
                  </a:lnTo>
                  <a:cubicBezTo>
                    <a:pt x="0" y="96348"/>
                    <a:pt x="96348" y="0"/>
                    <a:pt x="215198" y="0"/>
                  </a:cubicBezTo>
                  <a:close/>
                </a:path>
              </a:pathLst>
            </a:custGeom>
            <a:solidFill>
              <a:srgbClr val="0F1537"/>
            </a:solidFill>
            <a:ln cap="rnd">
              <a:noFill/>
              <a:prstDash val="solid"/>
              <a:round/>
            </a:ln>
          </p:spPr>
        </p:sp>
        <p:sp>
          <p:nvSpPr>
            <p:cNvPr name="TextBox 18" id="18"/>
            <p:cNvSpPr txBox="true"/>
            <p:nvPr/>
          </p:nvSpPr>
          <p:spPr>
            <a:xfrm>
              <a:off x="0" y="-38100"/>
              <a:ext cx="3280149" cy="746176"/>
            </a:xfrm>
            <a:prstGeom prst="rect">
              <a:avLst/>
            </a:prstGeom>
          </p:spPr>
          <p:txBody>
            <a:bodyPr anchor="ctr" rtlCol="false" tIns="44023" lIns="44023" bIns="44023" rIns="44023"/>
            <a:lstStyle/>
            <a:p>
              <a:pPr algn="ctr" marL="0" indent="0" lvl="0">
                <a:lnSpc>
                  <a:spcPts val="2660"/>
                </a:lnSpc>
                <a:spcBef>
                  <a:spcPct val="0"/>
                </a:spcBef>
              </a:pPr>
            </a:p>
          </p:txBody>
        </p:sp>
      </p:grpSp>
      <p:grpSp>
        <p:nvGrpSpPr>
          <p:cNvPr name="Group 19" id="19"/>
          <p:cNvGrpSpPr/>
          <p:nvPr/>
        </p:nvGrpSpPr>
        <p:grpSpPr>
          <a:xfrm rot="0">
            <a:off x="12174889" y="8580325"/>
            <a:ext cx="916992" cy="91699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883" t="0" r="-1883" b="0"/>
              </a:stretch>
            </a:blipFill>
          </p:spPr>
        </p:sp>
      </p:grpSp>
      <p:sp>
        <p:nvSpPr>
          <p:cNvPr name="TextBox 21" id="21"/>
          <p:cNvSpPr txBox="true"/>
          <p:nvPr/>
        </p:nvSpPr>
        <p:spPr>
          <a:xfrm rot="0">
            <a:off x="13803067" y="8794947"/>
            <a:ext cx="3892071" cy="1171575"/>
          </a:xfrm>
          <a:prstGeom prst="rect">
            <a:avLst/>
          </a:prstGeom>
        </p:spPr>
        <p:txBody>
          <a:bodyPr anchor="t" rtlCol="false" tIns="0" lIns="0" bIns="0" rIns="0">
            <a:spAutoFit/>
          </a:bodyPr>
          <a:lstStyle/>
          <a:p>
            <a:pPr algn="l" marL="0" indent="0" lvl="0">
              <a:lnSpc>
                <a:spcPts val="1800"/>
              </a:lnSpc>
            </a:pPr>
            <a:r>
              <a:rPr lang="en-US" b="true" sz="2000">
                <a:solidFill>
                  <a:srgbClr val="DFE5E7"/>
                </a:solidFill>
                <a:latin typeface="Inter Semi-Bold"/>
                <a:ea typeface="Inter Semi-Bold"/>
                <a:cs typeface="Inter Semi-Bold"/>
                <a:sym typeface="Inter Semi-Bold"/>
              </a:rPr>
              <a:t>Rhoda Innocent, </a:t>
            </a:r>
          </a:p>
          <a:p>
            <a:pPr algn="l" marL="0" indent="0" lvl="0">
              <a:lnSpc>
                <a:spcPts val="1800"/>
              </a:lnSpc>
            </a:pPr>
            <a:r>
              <a:rPr lang="en-US" b="true" sz="2000">
                <a:solidFill>
                  <a:srgbClr val="DFE5E7"/>
                </a:solidFill>
                <a:latin typeface="Inter Semi-Bold"/>
                <a:ea typeface="Inter Semi-Bold"/>
                <a:cs typeface="Inter Semi-Bold"/>
                <a:sym typeface="Inter Semi-Bold"/>
              </a:rPr>
              <a:t>Data Analyst</a:t>
            </a:r>
          </a:p>
          <a:p>
            <a:pPr algn="l" marL="0" indent="0" lvl="0">
              <a:lnSpc>
                <a:spcPts val="1800"/>
              </a:lnSpc>
            </a:pPr>
          </a:p>
          <a:p>
            <a:pPr algn="l" marL="0" indent="0" lvl="0">
              <a:lnSpc>
                <a:spcPts val="1800"/>
              </a:lnSpc>
            </a:pPr>
          </a:p>
          <a:p>
            <a:pPr algn="l" marL="0" indent="0" lvl="0">
              <a:lnSpc>
                <a:spcPts val="1800"/>
              </a:lnSpc>
            </a:pPr>
          </a:p>
        </p:txBody>
      </p:sp>
      <p:sp>
        <p:nvSpPr>
          <p:cNvPr name="TextBox 22" id="22"/>
          <p:cNvSpPr txBox="true"/>
          <p:nvPr/>
        </p:nvSpPr>
        <p:spPr>
          <a:xfrm rot="0">
            <a:off x="13398136" y="9459216"/>
            <a:ext cx="3438525" cy="656590"/>
          </a:xfrm>
          <a:prstGeom prst="rect">
            <a:avLst/>
          </a:prstGeom>
        </p:spPr>
        <p:txBody>
          <a:bodyPr anchor="t" rtlCol="false" tIns="0" lIns="0" bIns="0" rIns="0">
            <a:spAutoFit/>
          </a:bodyPr>
          <a:lstStyle/>
          <a:p>
            <a:pPr algn="ctr">
              <a:lnSpc>
                <a:spcPts val="2659"/>
              </a:lnSpc>
            </a:pPr>
            <a:r>
              <a:rPr lang="en-US" sz="1899">
                <a:solidFill>
                  <a:srgbClr val="0F1537"/>
                </a:solidFill>
                <a:latin typeface="Canva Sans"/>
                <a:ea typeface="Canva Sans"/>
                <a:cs typeface="Canva Sans"/>
                <a:sym typeface="Canva Sans"/>
              </a:rPr>
              <a:t>innocentrhoda54@gmail.com</a:t>
            </a:r>
          </a:p>
          <a:p>
            <a:pPr algn="ctr">
              <a:lnSpc>
                <a:spcPts val="2659"/>
              </a:lnSpc>
              <a:spcBef>
                <a:spcPct val="0"/>
              </a:spcBef>
            </a:pPr>
            <a:r>
              <a:rPr lang="en-US" sz="1899">
                <a:solidFill>
                  <a:srgbClr val="0F1537"/>
                </a:solidFill>
                <a:latin typeface="Canva Sans"/>
                <a:ea typeface="Canva Sans"/>
                <a:cs typeface="Canva Sans"/>
                <a:sym typeface="Canva Sans"/>
              </a:rPr>
              <a:t>+2348169818758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DAHQVghtZK8</dc:identifier>
  <dcterms:modified xsi:type="dcterms:W3CDTF">2011-08-01T06:04:30Z</dcterms:modified>
  <cp:revision>1</cp:revision>
  <dc:title>Customer Shopping Behaviour Analysis: Data-Driven Growth</dc:title>
</cp:coreProperties>
</file>